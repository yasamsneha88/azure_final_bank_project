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64" r:id="rId6"/>
    <p:sldId id="265" r:id="rId7"/>
    <p:sldId id="266" r:id="rId8"/>
    <p:sldId id="267" r:id="rId9"/>
    <p:sldId id="268" r:id="rId10"/>
    <p:sldId id="269" r:id="rId11"/>
    <p:sldId id="271" r:id="rId12"/>
    <p:sldId id="272" r:id="rId13"/>
    <p:sldId id="273" r:id="rId14"/>
    <p:sldId id="275" r:id="rId15"/>
    <p:sldId id="274" r:id="rId16"/>
    <p:sldId id="276" r:id="rId17"/>
    <p:sldId id="277" r:id="rId18"/>
    <p:sldId id="278" r:id="rId19"/>
    <p:sldId id="280" r:id="rId20"/>
    <p:sldId id="281" r:id="rId21"/>
    <p:sldId id="282" r:id="rId22"/>
    <p:sldId id="284" r:id="rId23"/>
    <p:sldId id="285" r:id="rId24"/>
    <p:sldId id="287" r:id="rId25"/>
    <p:sldId id="28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22" autoAdjust="0"/>
  </p:normalViewPr>
  <p:slideViewPr>
    <p:cSldViewPr>
      <p:cViewPr varScale="1">
        <p:scale>
          <a:sx n="74" d="100"/>
          <a:sy n="74" d="100"/>
        </p:scale>
        <p:origin x="1042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副标题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7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alphaModFix amt="80000"/>
          </a:blip>
          <a:stretch>
            <a:fillRect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2880" y="1571625"/>
            <a:ext cx="7371080" cy="238379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5400" b="1" i="0" u="none" spc="200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思源黑体 Medium"/>
                <a:ea typeface="思源黑体 Medium"/>
              </a:rPr>
              <a:t>Azure Bank Modernization Initiative: </a:t>
            </a:r>
            <a:r>
              <a:rPr lang="en-US" sz="5400" b="1" spc="200" dirty="0">
                <a:solidFill>
                  <a:schemeClr val="tx1">
                    <a:lumMod val="90000"/>
                    <a:lumOff val="10000"/>
                  </a:schemeClr>
                </a:solidFill>
                <a:latin typeface="思源黑体 Medium"/>
                <a:ea typeface="思源黑体 Medium"/>
              </a:rPr>
              <a:t>Banking capstone project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589280" y="4311650"/>
            <a:ext cx="3420110" cy="2340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endParaRPr lang="en-US" sz="1100" dirty="0"/>
          </a:p>
        </p:txBody>
      </p:sp>
      <p:sp>
        <p:nvSpPr>
          <p:cNvPr id="9" name="TextBox 9"/>
          <p:cNvSpPr txBox="1"/>
          <p:nvPr/>
        </p:nvSpPr>
        <p:spPr>
          <a:xfrm>
            <a:off x="4441825" y="4311650"/>
            <a:ext cx="3420110" cy="2340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endParaRPr lang="en-US" sz="1100" dirty="0"/>
          </a:p>
        </p:txBody>
      </p:sp>
      <p:sp>
        <p:nvSpPr>
          <p:cNvPr id="10" name="TextBox 10"/>
          <p:cNvSpPr txBox="1"/>
          <p:nvPr/>
        </p:nvSpPr>
        <p:spPr>
          <a:xfrm>
            <a:off x="8220393" y="4311650"/>
            <a:ext cx="3420110" cy="2340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endParaRPr lang="en-US" sz="1100" dirty="0"/>
          </a:p>
        </p:txBody>
      </p:sp>
      <p:sp>
        <p:nvSpPr>
          <p:cNvPr id="11" name="TextBox 11"/>
          <p:cNvSpPr txBox="1"/>
          <p:nvPr/>
        </p:nvSpPr>
        <p:spPr>
          <a:xfrm>
            <a:off x="781050" y="1143000"/>
            <a:ext cx="7080775" cy="322683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 dirty="0">
                <a:solidFill>
                  <a:srgbClr val="2787DC"/>
                </a:solidFill>
                <a:latin typeface="思源黑体 Normal"/>
                <a:ea typeface="思源黑体 Normal"/>
              </a:rPr>
              <a:t>Key Technologies</a:t>
            </a:r>
            <a:endParaRPr lang="en-US" sz="1100" dirty="0"/>
          </a:p>
        </p:txBody>
      </p:sp>
      <p:sp>
        <p:nvSpPr>
          <p:cNvPr id="12" name="TextBox 12"/>
          <p:cNvSpPr txBox="1"/>
          <p:nvPr/>
        </p:nvSpPr>
        <p:spPr>
          <a:xfrm>
            <a:off x="8220393" y="3577835"/>
            <a:ext cx="3420000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endParaRPr lang="en-US" sz="1100" dirty="0"/>
          </a:p>
        </p:txBody>
      </p:sp>
      <p:sp>
        <p:nvSpPr>
          <p:cNvPr id="13" name="TextBox 13"/>
          <p:cNvSpPr txBox="1"/>
          <p:nvPr/>
        </p:nvSpPr>
        <p:spPr>
          <a:xfrm>
            <a:off x="589280" y="3577835"/>
            <a:ext cx="3420000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endParaRPr lang="en-US" sz="1100" dirty="0"/>
          </a:p>
        </p:txBody>
      </p:sp>
      <p:sp>
        <p:nvSpPr>
          <p:cNvPr id="14" name="Freeform 1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2787DC"/>
          </a:solidFill>
        </p:spPr>
      </p:sp>
      <p:sp>
        <p:nvSpPr>
          <p:cNvPr id="15" name="TextBox 15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2787DC"/>
                </a:solidFill>
                <a:latin typeface="思源黑体 Normal"/>
                <a:ea typeface="思源黑体 Normal"/>
              </a:rPr>
              <a:t>Project Overview: Azure Bank Modernization</a:t>
            </a:r>
            <a:endParaRPr lang="en-US" sz="11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981CBA-331B-4419-518C-B0F1C9E6388A}"/>
              </a:ext>
            </a:extLst>
          </p:cNvPr>
          <p:cNvSpPr txBox="1"/>
          <p:nvPr/>
        </p:nvSpPr>
        <p:spPr>
          <a:xfrm flipH="1">
            <a:off x="990600" y="1574872"/>
            <a:ext cx="10058400" cy="4080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US" dirty="0">
                <a:latin typeface="思源黑体 Normal"/>
                <a:ea typeface="思源黑体 Normal"/>
              </a:rPr>
              <a:t>Azure Functions, Blob Storage, ADLS Gen2, Azure SQL, Cosmos DB, Azure Event Grid, Azure Service Bus, Python, </a:t>
            </a:r>
            <a:r>
              <a:rPr lang="en-US" dirty="0" err="1">
                <a:latin typeface="思源黑体 Normal"/>
                <a:ea typeface="思源黑体 Normal"/>
              </a:rPr>
              <a:t>PySpark</a:t>
            </a:r>
            <a:r>
              <a:rPr lang="en-US" dirty="0">
                <a:latin typeface="思源黑体 Normal"/>
                <a:ea typeface="思源黑体 Normal"/>
              </a:rPr>
              <a:t>, CI/CD.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dirty="0"/>
              <a:t>This project focuses on building an end-to-end </a:t>
            </a:r>
            <a:r>
              <a:rPr lang="en-US" b="1" dirty="0"/>
              <a:t>Azure-based Banking Data Platform</a:t>
            </a:r>
            <a:r>
              <a:rPr lang="en-US" dirty="0"/>
              <a:t> that ingests, processes, stores, and analyzes banking data in a secure and scalable cloud environment.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dirty="0"/>
              <a:t>The solution integrates multiple Azure services—such as Storage Accounts, Event Grid, Service Bus, Azure Functions, Databricks, and Synapse—to automate data ingestion, enable real-time event processing, and support advanced analytics like fraud detection, transaction insights, and customer 360 reporting.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dirty="0"/>
              <a:t>The platform follows an enterprise-grade architecture ensuring reliability, security, and cost-efficiency.</a:t>
            </a:r>
            <a:endParaRPr lang="en-US" dirty="0">
              <a:latin typeface="思源黑体 Normal"/>
              <a:ea typeface="思源黑体 Normal"/>
            </a:endParaRPr>
          </a:p>
          <a:p>
            <a:pPr algn="just">
              <a:lnSpc>
                <a:spcPct val="150000"/>
              </a:lnSpc>
              <a:defRPr/>
            </a:pPr>
            <a:endParaRPr lang="en-US" sz="1200" dirty="0"/>
          </a:p>
        </p:txBody>
      </p:sp>
    </p:spTree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alphaModFix amt="8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" y="945515"/>
            <a:ext cx="7417435" cy="3452495"/>
            <a:chOff x="180" y="1779"/>
            <a:chExt cx="11681" cy="5437"/>
          </a:xfrm>
        </p:grpSpPr>
        <p:grpSp>
          <p:nvGrpSpPr>
            <p:cNvPr id="3" name="Group 3"/>
            <p:cNvGrpSpPr/>
            <p:nvPr/>
          </p:nvGrpSpPr>
          <p:grpSpPr>
            <a:xfrm>
              <a:off x="320" y="1779"/>
              <a:ext cx="11541" cy="2310"/>
              <a:chOff x="-4958" y="1162"/>
              <a:chExt cx="11541" cy="2310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-4958" y="1162"/>
                <a:ext cx="4488" cy="1193"/>
              </a:xfrm>
              <a:prstGeom prst="roundRect">
                <a:avLst/>
              </a:prstGeom>
              <a:solidFill>
                <a:srgbClr val="2787DC"/>
              </a:solidFill>
            </p:spPr>
            <p:txBody>
              <a:bodyPr vert="horz" lIns="91440" tIns="45720" rIns="91440" bIns="45720" anchor="t"/>
              <a:lstStyle/>
              <a:p>
                <a:pPr marL="0" algn="l"/>
                <a:endParaRPr/>
              </a:p>
            </p:txBody>
          </p:sp>
          <p:grpSp>
            <p:nvGrpSpPr>
              <p:cNvPr id="5" name="Group 5"/>
              <p:cNvGrpSpPr/>
              <p:nvPr/>
            </p:nvGrpSpPr>
            <p:grpSpPr>
              <a:xfrm>
                <a:off x="-4788" y="1202"/>
                <a:ext cx="11371" cy="2270"/>
                <a:chOff x="3191" y="712"/>
                <a:chExt cx="11371" cy="2270"/>
              </a:xfrm>
            </p:grpSpPr>
            <p:sp>
              <p:nvSpPr>
                <p:cNvPr id="6" name="TextBox 6"/>
                <p:cNvSpPr txBox="1"/>
                <p:nvPr/>
              </p:nvSpPr>
              <p:spPr>
                <a:xfrm>
                  <a:off x="3191" y="712"/>
                  <a:ext cx="4521" cy="1113"/>
                </a:xfrm>
                <a:prstGeom prst="rect">
                  <a:avLst/>
                </a:prstGeom>
                <a:noFill/>
              </p:spPr>
              <p:txBody>
                <a:bodyPr vert="horz" wrap="square" lIns="91440" tIns="45720" rIns="91440" bIns="45720" rtlCol="0" anchor="ctr">
                  <a:noAutofit/>
                </a:bodyPr>
                <a:lstStyle/>
                <a:p>
                  <a:pPr marL="0" algn="l">
                    <a:defRPr/>
                  </a:pPr>
                  <a:r>
                    <a:rPr lang="en-US" sz="4000" b="1" i="0" u="none" baseline="0">
                      <a:solidFill>
                        <a:schemeClr val="bg1"/>
                      </a:solidFill>
                      <a:latin typeface="思源黑体 Normal"/>
                      <a:ea typeface="思源黑体 Normal"/>
                    </a:rPr>
                    <a:t>PART  02</a:t>
                  </a:r>
                  <a:endParaRPr lang="en-US" sz="1100"/>
                </a:p>
              </p:txBody>
            </p:sp>
            <p:sp>
              <p:nvSpPr>
                <p:cNvPr id="7" name="AutoShape 7"/>
                <p:cNvSpPr/>
                <p:nvPr/>
              </p:nvSpPr>
              <p:spPr>
                <a:xfrm>
                  <a:off x="10041" y="1862"/>
                  <a:ext cx="4521" cy="1120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txBody>
                <a:bodyPr vert="horz" lIns="91440" tIns="45720" rIns="91440" bIns="45720" anchor="ctr"/>
                <a:lstStyle/>
                <a:p>
                  <a:pPr marL="0" algn="l"/>
                  <a:endParaRPr/>
                </a:p>
              </p:txBody>
            </p:sp>
          </p:grpSp>
        </p:grpSp>
        <p:sp>
          <p:nvSpPr>
            <p:cNvPr id="8" name="TextBox 8"/>
            <p:cNvSpPr txBox="1"/>
            <p:nvPr/>
          </p:nvSpPr>
          <p:spPr>
            <a:xfrm>
              <a:off x="180" y="3926"/>
              <a:ext cx="11601" cy="329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5400" b="0" i="0" u="none" baseline="0">
                  <a:solidFill>
                    <a:schemeClr val="tx1">
                      <a:lumMod val="90000"/>
                      <a:lumOff val="10000"/>
                    </a:schemeClr>
                  </a:solidFill>
                  <a:latin typeface="思源黑体 Medium"/>
                  <a:ea typeface="思源黑体 Medium"/>
                </a:rPr>
                <a:t>Day 1: Architecture and Data Ingestion</a:t>
              </a:r>
              <a:endParaRPr lang="en-US" sz="110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7953" y="1264285"/>
            <a:ext cx="2414270" cy="1626870"/>
            <a:chOff x="2531" y="1991"/>
            <a:chExt cx="3802" cy="2562"/>
          </a:xfrm>
          <a:solidFill>
            <a:srgbClr val="2787DC"/>
          </a:solidFill>
        </p:grpSpPr>
        <p:sp>
          <p:nvSpPr>
            <p:cNvPr id="3" name="Freeform 3"/>
            <p:cNvSpPr/>
            <p:nvPr/>
          </p:nvSpPr>
          <p:spPr>
            <a:xfrm>
              <a:off x="2531" y="1991"/>
              <a:ext cx="3803" cy="2562"/>
            </a:xfrm>
            <a:custGeom>
              <a:avLst/>
              <a:gdLst/>
              <a:ahLst/>
              <a:cxnLst/>
              <a:rect l="l" t="t" r="r" b="b"/>
              <a:pathLst>
                <a:path w="2139848" h="1441441">
                  <a:moveTo>
                    <a:pt x="0" y="1134815"/>
                  </a:moveTo>
                  <a:lnTo>
                    <a:pt x="831588" y="303037"/>
                  </a:lnTo>
                  <a:lnTo>
                    <a:pt x="1363493" y="303037"/>
                  </a:lnTo>
                  <a:cubicBezTo>
                    <a:pt x="1370233" y="303086"/>
                    <a:pt x="1376457" y="299434"/>
                    <a:pt x="1379702" y="293526"/>
                  </a:cubicBezTo>
                  <a:cubicBezTo>
                    <a:pt x="1382948" y="287617"/>
                    <a:pt x="1382693" y="280404"/>
                    <a:pt x="1379037" y="274741"/>
                  </a:cubicBezTo>
                  <a:lnTo>
                    <a:pt x="1349970" y="230120"/>
                  </a:lnTo>
                  <a:cubicBezTo>
                    <a:pt x="1322420" y="189052"/>
                    <a:pt x="1312301" y="138723"/>
                    <a:pt x="1321836" y="90195"/>
                  </a:cubicBezTo>
                  <a:cubicBezTo>
                    <a:pt x="1325865" y="63769"/>
                    <a:pt x="1339475" y="39751"/>
                    <a:pt x="1360073" y="22720"/>
                  </a:cubicBezTo>
                  <a:cubicBezTo>
                    <a:pt x="1378343" y="9698"/>
                    <a:pt x="1399865" y="2002"/>
                    <a:pt x="1422248" y="487"/>
                  </a:cubicBezTo>
                  <a:cubicBezTo>
                    <a:pt x="1473675" y="-3400"/>
                    <a:pt x="1524108" y="16138"/>
                    <a:pt x="1559499" y="53659"/>
                  </a:cubicBezTo>
                  <a:lnTo>
                    <a:pt x="2098399" y="606208"/>
                  </a:lnTo>
                  <a:cubicBezTo>
                    <a:pt x="2098399" y="606208"/>
                    <a:pt x="2191661" y="684722"/>
                    <a:pt x="2098399" y="808323"/>
                  </a:cubicBezTo>
                  <a:cubicBezTo>
                    <a:pt x="2020680" y="911712"/>
                    <a:pt x="1673279" y="1274740"/>
                    <a:pt x="1559499" y="1392433"/>
                  </a:cubicBezTo>
                  <a:cubicBezTo>
                    <a:pt x="1531797" y="1421458"/>
                    <a:pt x="1494156" y="1438950"/>
                    <a:pt x="1454113" y="1441407"/>
                  </a:cubicBezTo>
                  <a:cubicBezTo>
                    <a:pt x="1412008" y="1442351"/>
                    <a:pt x="1371835" y="1423753"/>
                    <a:pt x="1345307" y="1391034"/>
                  </a:cubicBezTo>
                  <a:cubicBezTo>
                    <a:pt x="1341155" y="1385749"/>
                    <a:pt x="1337708" y="1379949"/>
                    <a:pt x="1335048" y="1373776"/>
                  </a:cubicBezTo>
                  <a:cubicBezTo>
                    <a:pt x="1315085" y="1318694"/>
                    <a:pt x="1324074" y="1257267"/>
                    <a:pt x="1358985" y="1210219"/>
                  </a:cubicBezTo>
                  <a:lnTo>
                    <a:pt x="1386964" y="1170885"/>
                  </a:lnTo>
                  <a:cubicBezTo>
                    <a:pt x="1391027" y="1165393"/>
                    <a:pt x="1391638" y="1158077"/>
                    <a:pt x="1388545" y="1151987"/>
                  </a:cubicBezTo>
                  <a:cubicBezTo>
                    <a:pt x="1385452" y="1145897"/>
                    <a:pt x="1379183" y="1142077"/>
                    <a:pt x="1372353" y="1142122"/>
                  </a:cubicBezTo>
                  <a:lnTo>
                    <a:pt x="0" y="1134815"/>
                  </a:lnTo>
                  <a:close/>
                </a:path>
              </a:pathLst>
            </a:custGeom>
            <a:grpFill/>
            <a:ln cap="flat">
              <a:noFill/>
              <a:prstDash val="solid"/>
              <a:miter lim="800000"/>
            </a:ln>
          </p:spPr>
          <p:txBody>
            <a:bodyPr rot="0" vert="horz" wrap="square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" name="AutoShape 4"/>
            <p:cNvSpPr/>
            <p:nvPr/>
          </p:nvSpPr>
          <p:spPr>
            <a:xfrm rot="5400000">
              <a:off x="2531" y="4004"/>
              <a:ext cx="454" cy="454"/>
            </a:xfrm>
            <a:prstGeom prst="rtTriangle">
              <a:avLst/>
            </a:prstGeom>
            <a:solidFill>
              <a:srgbClr val="CBDCFF"/>
            </a:solidFill>
            <a:ln cap="flat">
              <a:noFill/>
              <a:prstDash val="solid"/>
              <a:miter lim="800000"/>
            </a:ln>
          </p:spPr>
          <p:txBody>
            <a:bodyPr rot="0" vert="horz" wrap="square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>
              <a:off x="4146" y="2994"/>
              <a:ext cx="574" cy="555"/>
            </a:xfrm>
            <a:custGeom>
              <a:avLst/>
              <a:gdLst/>
              <a:ahLst/>
              <a:cxnLst/>
              <a:rect l="l" t="t" r="r" b="b"/>
              <a:pathLst>
                <a:path w="323214" h="312379">
                  <a:moveTo>
                    <a:pt x="244506" y="244532"/>
                  </a:moveTo>
                  <a:cubicBezTo>
                    <a:pt x="230541" y="218158"/>
                    <a:pt x="204883" y="204404"/>
                    <a:pt x="175978" y="192914"/>
                  </a:cubicBezTo>
                  <a:cubicBezTo>
                    <a:pt x="171594" y="191135"/>
                    <a:pt x="169807" y="186119"/>
                    <a:pt x="171919" y="182073"/>
                  </a:cubicBezTo>
                  <a:lnTo>
                    <a:pt x="171919" y="181911"/>
                  </a:lnTo>
                  <a:lnTo>
                    <a:pt x="172406" y="180941"/>
                  </a:lnTo>
                  <a:cubicBezTo>
                    <a:pt x="185235" y="163141"/>
                    <a:pt x="196439" y="140649"/>
                    <a:pt x="198063" y="111847"/>
                  </a:cubicBezTo>
                  <a:cubicBezTo>
                    <a:pt x="201148" y="78837"/>
                    <a:pt x="188645" y="55536"/>
                    <a:pt x="171269" y="38060"/>
                  </a:cubicBezTo>
                  <a:cubicBezTo>
                    <a:pt x="168833" y="35633"/>
                    <a:pt x="168184" y="31911"/>
                    <a:pt x="169807" y="28837"/>
                  </a:cubicBezTo>
                  <a:cubicBezTo>
                    <a:pt x="178089" y="13626"/>
                    <a:pt x="190918" y="1652"/>
                    <a:pt x="214302" y="196"/>
                  </a:cubicBezTo>
                  <a:cubicBezTo>
                    <a:pt x="250027" y="-1422"/>
                    <a:pt x="269514" y="21232"/>
                    <a:pt x="272761" y="50358"/>
                  </a:cubicBezTo>
                  <a:cubicBezTo>
                    <a:pt x="277632" y="82720"/>
                    <a:pt x="266266" y="108610"/>
                    <a:pt x="253275" y="124792"/>
                  </a:cubicBezTo>
                  <a:cubicBezTo>
                    <a:pt x="251650" y="128028"/>
                    <a:pt x="248403" y="129646"/>
                    <a:pt x="246779" y="132882"/>
                  </a:cubicBezTo>
                  <a:cubicBezTo>
                    <a:pt x="245480" y="135471"/>
                    <a:pt x="245155" y="141458"/>
                    <a:pt x="246129" y="145342"/>
                  </a:cubicBezTo>
                  <a:cubicBezTo>
                    <a:pt x="246455" y="146961"/>
                    <a:pt x="247266" y="148255"/>
                    <a:pt x="248566" y="149387"/>
                  </a:cubicBezTo>
                  <a:cubicBezTo>
                    <a:pt x="253112" y="153271"/>
                    <a:pt x="262368" y="156021"/>
                    <a:pt x="268052" y="158934"/>
                  </a:cubicBezTo>
                  <a:cubicBezTo>
                    <a:pt x="276171" y="162171"/>
                    <a:pt x="282666" y="165406"/>
                    <a:pt x="289162" y="168643"/>
                  </a:cubicBezTo>
                  <a:cubicBezTo>
                    <a:pt x="302153" y="175116"/>
                    <a:pt x="316767" y="184824"/>
                    <a:pt x="321639" y="197769"/>
                  </a:cubicBezTo>
                  <a:cubicBezTo>
                    <a:pt x="324887" y="205860"/>
                    <a:pt x="323263" y="222041"/>
                    <a:pt x="318392" y="228513"/>
                  </a:cubicBezTo>
                  <a:cubicBezTo>
                    <a:pt x="307836" y="243562"/>
                    <a:pt x="277470" y="245989"/>
                    <a:pt x="252463" y="248901"/>
                  </a:cubicBezTo>
                  <a:cubicBezTo>
                    <a:pt x="249215" y="249063"/>
                    <a:pt x="246129" y="247445"/>
                    <a:pt x="244506" y="244532"/>
                  </a:cubicBezTo>
                  <a:moveTo>
                    <a:pt x="114" y="276895"/>
                  </a:moveTo>
                  <a:lnTo>
                    <a:pt x="114" y="265568"/>
                  </a:lnTo>
                  <a:cubicBezTo>
                    <a:pt x="114" y="262332"/>
                    <a:pt x="1738" y="259096"/>
                    <a:pt x="3362" y="255860"/>
                  </a:cubicBezTo>
                  <a:cubicBezTo>
                    <a:pt x="9695" y="243076"/>
                    <a:pt x="22523" y="234986"/>
                    <a:pt x="33728" y="227057"/>
                  </a:cubicBezTo>
                  <a:cubicBezTo>
                    <a:pt x="34053" y="226896"/>
                    <a:pt x="34378" y="226572"/>
                    <a:pt x="34702" y="226409"/>
                  </a:cubicBezTo>
                  <a:cubicBezTo>
                    <a:pt x="44283" y="221718"/>
                    <a:pt x="53864" y="216862"/>
                    <a:pt x="65069" y="212170"/>
                  </a:cubicBezTo>
                  <a:cubicBezTo>
                    <a:pt x="67829" y="210876"/>
                    <a:pt x="71726" y="209420"/>
                    <a:pt x="74812" y="208125"/>
                  </a:cubicBezTo>
                  <a:cubicBezTo>
                    <a:pt x="75948" y="207639"/>
                    <a:pt x="76923" y="206992"/>
                    <a:pt x="77572" y="206021"/>
                  </a:cubicBezTo>
                  <a:cubicBezTo>
                    <a:pt x="82282" y="200358"/>
                    <a:pt x="87315" y="188707"/>
                    <a:pt x="82769" y="179807"/>
                  </a:cubicBezTo>
                  <a:cubicBezTo>
                    <a:pt x="81145" y="176572"/>
                    <a:pt x="79521" y="174953"/>
                    <a:pt x="76436" y="171879"/>
                  </a:cubicBezTo>
                  <a:lnTo>
                    <a:pt x="76111" y="171556"/>
                  </a:lnTo>
                  <a:cubicBezTo>
                    <a:pt x="61496" y="155374"/>
                    <a:pt x="48668" y="127866"/>
                    <a:pt x="51915" y="95665"/>
                  </a:cubicBezTo>
                  <a:cubicBezTo>
                    <a:pt x="55163" y="63303"/>
                    <a:pt x="76273" y="40649"/>
                    <a:pt x="111998" y="40649"/>
                  </a:cubicBezTo>
                  <a:cubicBezTo>
                    <a:pt x="147561" y="40649"/>
                    <a:pt x="168672" y="63141"/>
                    <a:pt x="173706" y="95342"/>
                  </a:cubicBezTo>
                  <a:cubicBezTo>
                    <a:pt x="173706" y="95665"/>
                    <a:pt x="173706" y="95827"/>
                    <a:pt x="173867" y="96151"/>
                  </a:cubicBezTo>
                  <a:cubicBezTo>
                    <a:pt x="175329" y="115407"/>
                    <a:pt x="170620" y="133044"/>
                    <a:pt x="165749" y="144371"/>
                  </a:cubicBezTo>
                  <a:cubicBezTo>
                    <a:pt x="161039" y="155536"/>
                    <a:pt x="156167" y="163465"/>
                    <a:pt x="149834" y="171394"/>
                  </a:cubicBezTo>
                  <a:cubicBezTo>
                    <a:pt x="149510" y="171717"/>
                    <a:pt x="149347" y="172041"/>
                    <a:pt x="149185" y="172365"/>
                  </a:cubicBezTo>
                  <a:cubicBezTo>
                    <a:pt x="147561" y="174953"/>
                    <a:pt x="144962" y="176572"/>
                    <a:pt x="143339" y="179160"/>
                  </a:cubicBezTo>
                  <a:cubicBezTo>
                    <a:pt x="143014" y="179647"/>
                    <a:pt x="142851" y="180132"/>
                    <a:pt x="142690" y="180779"/>
                  </a:cubicBezTo>
                  <a:cubicBezTo>
                    <a:pt x="139928" y="190326"/>
                    <a:pt x="143014" y="202785"/>
                    <a:pt x="146262" y="207477"/>
                  </a:cubicBezTo>
                  <a:cubicBezTo>
                    <a:pt x="147885" y="210552"/>
                    <a:pt x="154056" y="210714"/>
                    <a:pt x="158928" y="212170"/>
                  </a:cubicBezTo>
                  <a:cubicBezTo>
                    <a:pt x="159253" y="212333"/>
                    <a:pt x="159415" y="212333"/>
                    <a:pt x="159739" y="212493"/>
                  </a:cubicBezTo>
                  <a:cubicBezTo>
                    <a:pt x="179064" y="220584"/>
                    <a:pt x="198226" y="230131"/>
                    <a:pt x="212677" y="242915"/>
                  </a:cubicBezTo>
                  <a:cubicBezTo>
                    <a:pt x="212840" y="243076"/>
                    <a:pt x="213002" y="243238"/>
                    <a:pt x="213165" y="243238"/>
                  </a:cubicBezTo>
                  <a:cubicBezTo>
                    <a:pt x="217387" y="247445"/>
                    <a:pt x="222908" y="253109"/>
                    <a:pt x="225182" y="260876"/>
                  </a:cubicBezTo>
                  <a:cubicBezTo>
                    <a:pt x="225668" y="262655"/>
                    <a:pt x="225831" y="264598"/>
                    <a:pt x="225831" y="266377"/>
                  </a:cubicBezTo>
                  <a:lnTo>
                    <a:pt x="225831" y="278999"/>
                  </a:lnTo>
                  <a:cubicBezTo>
                    <a:pt x="225831" y="279808"/>
                    <a:pt x="225668" y="280617"/>
                    <a:pt x="225507" y="281264"/>
                  </a:cubicBezTo>
                  <a:cubicBezTo>
                    <a:pt x="219985" y="298093"/>
                    <a:pt x="197738" y="302947"/>
                    <a:pt x="177115" y="307640"/>
                  </a:cubicBezTo>
                  <a:cubicBezTo>
                    <a:pt x="141390" y="314112"/>
                    <a:pt x="91050" y="314112"/>
                    <a:pt x="53702" y="307640"/>
                  </a:cubicBezTo>
                  <a:cubicBezTo>
                    <a:pt x="35839" y="304403"/>
                    <a:pt x="16353" y="299549"/>
                    <a:pt x="6609" y="288222"/>
                  </a:cubicBezTo>
                  <a:cubicBezTo>
                    <a:pt x="3362" y="286605"/>
                    <a:pt x="1738" y="283368"/>
                    <a:pt x="114" y="276895"/>
                  </a:cubicBezTo>
                </a:path>
              </a:pathLst>
            </a:custGeom>
            <a:solidFill>
              <a:srgbClr val="CBDCFF"/>
            </a:solidFill>
            <a:ln cap="flat">
              <a:noFill/>
              <a:prstDash val="solid"/>
              <a:miter lim="800000"/>
            </a:ln>
          </p:spPr>
          <p:txBody>
            <a:bodyPr vert="horz" lIns="91440" tIns="45720" rIns="91440" bIns="45720" anchor="ctr"/>
            <a:lstStyle/>
            <a:p>
              <a:pPr marL="0" algn="l"/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912995" y="1264285"/>
            <a:ext cx="2414270" cy="1626870"/>
            <a:chOff x="8200" y="1991"/>
            <a:chExt cx="3802" cy="2562"/>
          </a:xfrm>
          <a:solidFill>
            <a:srgbClr val="2787DC"/>
          </a:solidFill>
        </p:grpSpPr>
        <p:sp>
          <p:nvSpPr>
            <p:cNvPr id="7" name="AutoShape 7"/>
            <p:cNvSpPr/>
            <p:nvPr/>
          </p:nvSpPr>
          <p:spPr>
            <a:xfrm rot="5400000">
              <a:off x="8204" y="4004"/>
              <a:ext cx="454" cy="454"/>
            </a:xfrm>
            <a:prstGeom prst="rtTriangle">
              <a:avLst/>
            </a:prstGeom>
            <a:solidFill>
              <a:srgbClr val="CBDCFF"/>
            </a:solidFill>
            <a:ln cap="flat">
              <a:noFill/>
              <a:prstDash val="solid"/>
              <a:miter lim="800000"/>
            </a:ln>
          </p:spPr>
          <p:txBody>
            <a:bodyPr rot="0" vert="horz" wrap="square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8200" y="1991"/>
              <a:ext cx="3802" cy="2562"/>
              <a:chOff x="8138" y="1991"/>
              <a:chExt cx="3802" cy="2562"/>
            </a:xfrm>
            <a:grpFill/>
          </p:grpSpPr>
          <p:sp>
            <p:nvSpPr>
              <p:cNvPr id="9" name="Freeform 9"/>
              <p:cNvSpPr/>
              <p:nvPr/>
            </p:nvSpPr>
            <p:spPr>
              <a:xfrm>
                <a:off x="8138" y="1991"/>
                <a:ext cx="3803" cy="2562"/>
              </a:xfrm>
              <a:custGeom>
                <a:avLst/>
                <a:gdLst/>
                <a:ahLst/>
                <a:cxnLst/>
                <a:rect l="l" t="t" r="r" b="b"/>
                <a:pathLst>
                  <a:path w="2139848" h="1441441">
                    <a:moveTo>
                      <a:pt x="0" y="1134815"/>
                    </a:moveTo>
                    <a:lnTo>
                      <a:pt x="831588" y="303037"/>
                    </a:lnTo>
                    <a:lnTo>
                      <a:pt x="1363493" y="303037"/>
                    </a:lnTo>
                    <a:cubicBezTo>
                      <a:pt x="1370233" y="303086"/>
                      <a:pt x="1376457" y="299434"/>
                      <a:pt x="1379702" y="293526"/>
                    </a:cubicBezTo>
                    <a:cubicBezTo>
                      <a:pt x="1382948" y="287617"/>
                      <a:pt x="1382693" y="280404"/>
                      <a:pt x="1379037" y="274741"/>
                    </a:cubicBezTo>
                    <a:lnTo>
                      <a:pt x="1349970" y="230120"/>
                    </a:lnTo>
                    <a:cubicBezTo>
                      <a:pt x="1322420" y="189052"/>
                      <a:pt x="1312301" y="138723"/>
                      <a:pt x="1321836" y="90195"/>
                    </a:cubicBezTo>
                    <a:cubicBezTo>
                      <a:pt x="1325865" y="63769"/>
                      <a:pt x="1339475" y="39751"/>
                      <a:pt x="1360073" y="22720"/>
                    </a:cubicBezTo>
                    <a:cubicBezTo>
                      <a:pt x="1378343" y="9698"/>
                      <a:pt x="1399865" y="2002"/>
                      <a:pt x="1422248" y="487"/>
                    </a:cubicBezTo>
                    <a:cubicBezTo>
                      <a:pt x="1473675" y="-3400"/>
                      <a:pt x="1524108" y="16138"/>
                      <a:pt x="1559499" y="53659"/>
                    </a:cubicBezTo>
                    <a:lnTo>
                      <a:pt x="2098399" y="606208"/>
                    </a:lnTo>
                    <a:cubicBezTo>
                      <a:pt x="2098399" y="606208"/>
                      <a:pt x="2191661" y="684722"/>
                      <a:pt x="2098399" y="808323"/>
                    </a:cubicBezTo>
                    <a:cubicBezTo>
                      <a:pt x="2020680" y="911712"/>
                      <a:pt x="1673279" y="1274740"/>
                      <a:pt x="1559499" y="1392433"/>
                    </a:cubicBezTo>
                    <a:cubicBezTo>
                      <a:pt x="1531797" y="1421458"/>
                      <a:pt x="1494156" y="1438950"/>
                      <a:pt x="1454113" y="1441407"/>
                    </a:cubicBezTo>
                    <a:cubicBezTo>
                      <a:pt x="1412008" y="1442351"/>
                      <a:pt x="1371835" y="1423753"/>
                      <a:pt x="1345307" y="1391034"/>
                    </a:cubicBezTo>
                    <a:cubicBezTo>
                      <a:pt x="1341155" y="1385749"/>
                      <a:pt x="1337708" y="1379949"/>
                      <a:pt x="1335048" y="1373776"/>
                    </a:cubicBezTo>
                    <a:cubicBezTo>
                      <a:pt x="1315085" y="1318694"/>
                      <a:pt x="1324074" y="1257267"/>
                      <a:pt x="1358985" y="1210219"/>
                    </a:cubicBezTo>
                    <a:lnTo>
                      <a:pt x="1386964" y="1170885"/>
                    </a:lnTo>
                    <a:cubicBezTo>
                      <a:pt x="1391027" y="1165393"/>
                      <a:pt x="1391638" y="1158077"/>
                      <a:pt x="1388545" y="1151987"/>
                    </a:cubicBezTo>
                    <a:cubicBezTo>
                      <a:pt x="1385452" y="1145897"/>
                      <a:pt x="1379183" y="1142077"/>
                      <a:pt x="1372353" y="1142122"/>
                    </a:cubicBezTo>
                    <a:lnTo>
                      <a:pt x="0" y="1134815"/>
                    </a:lnTo>
                    <a:close/>
                  </a:path>
                </a:pathLst>
              </a:custGeom>
              <a:grpFill/>
              <a:ln cap="flat">
                <a:noFill/>
                <a:prstDash val="solid"/>
                <a:miter lim="800000"/>
              </a:ln>
            </p:spPr>
            <p:txBody>
              <a:bodyPr rot="0" vert="horz" wrap="square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9753" y="2984"/>
                <a:ext cx="574" cy="576"/>
              </a:xfrm>
              <a:custGeom>
                <a:avLst/>
                <a:gdLst/>
                <a:ahLst/>
                <a:cxnLst/>
                <a:rect l="l" t="t" r="r" b="b"/>
                <a:pathLst>
                  <a:path w="323214" h="323849">
                    <a:moveTo>
                      <a:pt x="36038" y="115"/>
                    </a:moveTo>
                    <a:lnTo>
                      <a:pt x="287407" y="115"/>
                    </a:lnTo>
                    <a:cubicBezTo>
                      <a:pt x="307261" y="115"/>
                      <a:pt x="323330" y="16215"/>
                      <a:pt x="323330" y="36109"/>
                    </a:cubicBezTo>
                    <a:lnTo>
                      <a:pt x="323330" y="216007"/>
                    </a:lnTo>
                    <a:cubicBezTo>
                      <a:pt x="323330" y="235901"/>
                      <a:pt x="307261" y="252000"/>
                      <a:pt x="287407" y="252000"/>
                    </a:cubicBezTo>
                    <a:lnTo>
                      <a:pt x="36038" y="252000"/>
                    </a:lnTo>
                    <a:cubicBezTo>
                      <a:pt x="16183" y="252000"/>
                      <a:pt x="115" y="235878"/>
                      <a:pt x="115" y="216007"/>
                    </a:cubicBezTo>
                    <a:lnTo>
                      <a:pt x="115" y="36109"/>
                    </a:lnTo>
                    <a:cubicBezTo>
                      <a:pt x="115" y="16215"/>
                      <a:pt x="16183" y="115"/>
                      <a:pt x="36038" y="115"/>
                    </a:cubicBezTo>
                    <a:moveTo>
                      <a:pt x="18077" y="287971"/>
                    </a:moveTo>
                    <a:lnTo>
                      <a:pt x="305368" y="287971"/>
                    </a:lnTo>
                    <a:cubicBezTo>
                      <a:pt x="315288" y="287971"/>
                      <a:pt x="323330" y="296029"/>
                      <a:pt x="323330" y="305968"/>
                    </a:cubicBezTo>
                    <a:cubicBezTo>
                      <a:pt x="323330" y="315907"/>
                      <a:pt x="315288" y="323965"/>
                      <a:pt x="305368" y="323965"/>
                    </a:cubicBezTo>
                    <a:lnTo>
                      <a:pt x="18077" y="323965"/>
                    </a:lnTo>
                    <a:cubicBezTo>
                      <a:pt x="8157" y="323965"/>
                      <a:pt x="115" y="315907"/>
                      <a:pt x="115" y="305968"/>
                    </a:cubicBezTo>
                    <a:cubicBezTo>
                      <a:pt x="115" y="296029"/>
                      <a:pt x="8157" y="287971"/>
                      <a:pt x="18077" y="287971"/>
                    </a:cubicBezTo>
                    <a:moveTo>
                      <a:pt x="161722" y="126047"/>
                    </a:moveTo>
                    <a:cubicBezTo>
                      <a:pt x="151795" y="126047"/>
                      <a:pt x="143760" y="134097"/>
                      <a:pt x="143760" y="144043"/>
                    </a:cubicBezTo>
                    <a:lnTo>
                      <a:pt x="143760" y="162040"/>
                    </a:lnTo>
                    <a:cubicBezTo>
                      <a:pt x="143760" y="171980"/>
                      <a:pt x="151802" y="180037"/>
                      <a:pt x="161722" y="180037"/>
                    </a:cubicBezTo>
                    <a:cubicBezTo>
                      <a:pt x="171643" y="180037"/>
                      <a:pt x="179684" y="171980"/>
                      <a:pt x="179684" y="162040"/>
                    </a:cubicBezTo>
                    <a:lnTo>
                      <a:pt x="179684" y="144043"/>
                    </a:lnTo>
                    <a:cubicBezTo>
                      <a:pt x="179684" y="134119"/>
                      <a:pt x="171650" y="126047"/>
                      <a:pt x="161722" y="126047"/>
                    </a:cubicBezTo>
                    <a:moveTo>
                      <a:pt x="233546" y="108073"/>
                    </a:moveTo>
                    <a:cubicBezTo>
                      <a:pt x="223642" y="108073"/>
                      <a:pt x="215584" y="116099"/>
                      <a:pt x="215584" y="126047"/>
                    </a:cubicBezTo>
                    <a:lnTo>
                      <a:pt x="215584" y="162040"/>
                    </a:lnTo>
                    <a:cubicBezTo>
                      <a:pt x="215585" y="171978"/>
                      <a:pt x="223627" y="180035"/>
                      <a:pt x="233546" y="180035"/>
                    </a:cubicBezTo>
                    <a:cubicBezTo>
                      <a:pt x="243465" y="180035"/>
                      <a:pt x="251505" y="171978"/>
                      <a:pt x="251507" y="162040"/>
                    </a:cubicBezTo>
                    <a:lnTo>
                      <a:pt x="251507" y="126047"/>
                    </a:lnTo>
                    <a:cubicBezTo>
                      <a:pt x="251507" y="116123"/>
                      <a:pt x="243472" y="108073"/>
                      <a:pt x="233546" y="108073"/>
                    </a:cubicBezTo>
                    <a:moveTo>
                      <a:pt x="89923" y="72056"/>
                    </a:moveTo>
                    <a:lnTo>
                      <a:pt x="89876" y="72079"/>
                    </a:lnTo>
                    <a:cubicBezTo>
                      <a:pt x="79949" y="72079"/>
                      <a:pt x="71915" y="80129"/>
                      <a:pt x="71915" y="90076"/>
                    </a:cubicBezTo>
                    <a:lnTo>
                      <a:pt x="71915" y="162040"/>
                    </a:lnTo>
                    <a:cubicBezTo>
                      <a:pt x="71915" y="171992"/>
                      <a:pt x="79967" y="180060"/>
                      <a:pt x="89899" y="180060"/>
                    </a:cubicBezTo>
                    <a:cubicBezTo>
                      <a:pt x="99832" y="180060"/>
                      <a:pt x="107884" y="171992"/>
                      <a:pt x="107884" y="162040"/>
                    </a:cubicBezTo>
                    <a:lnTo>
                      <a:pt x="107884" y="90053"/>
                    </a:lnTo>
                    <a:cubicBezTo>
                      <a:pt x="107884" y="80106"/>
                      <a:pt x="99850" y="72056"/>
                      <a:pt x="89923" y="72056"/>
                    </a:cubicBezTo>
                  </a:path>
                </a:pathLst>
              </a:custGeom>
              <a:solidFill>
                <a:srgbClr val="CBDCFF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8425180" y="1209675"/>
            <a:ext cx="2416175" cy="1626870"/>
            <a:chOff x="13598" y="1905"/>
            <a:chExt cx="3805" cy="2562"/>
          </a:xfrm>
          <a:solidFill>
            <a:srgbClr val="2787DC"/>
          </a:solidFill>
        </p:grpSpPr>
        <p:sp>
          <p:nvSpPr>
            <p:cNvPr id="12" name="AutoShape 12"/>
            <p:cNvSpPr/>
            <p:nvPr/>
          </p:nvSpPr>
          <p:spPr>
            <a:xfrm rot="5400000">
              <a:off x="13598" y="3918"/>
              <a:ext cx="454" cy="454"/>
            </a:xfrm>
            <a:prstGeom prst="rtTriangle">
              <a:avLst/>
            </a:prstGeom>
            <a:solidFill>
              <a:srgbClr val="CBDCFF"/>
            </a:solidFill>
            <a:ln cap="flat">
              <a:noFill/>
              <a:prstDash val="solid"/>
              <a:miter lim="800000"/>
            </a:ln>
          </p:spPr>
          <p:txBody>
            <a:bodyPr rot="0" vert="horz" wrap="square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13601" y="1905"/>
              <a:ext cx="3802" cy="2562"/>
              <a:chOff x="13601" y="1905"/>
              <a:chExt cx="3802" cy="2562"/>
            </a:xfrm>
            <a:grpFill/>
          </p:grpSpPr>
          <p:sp>
            <p:nvSpPr>
              <p:cNvPr id="14" name="Freeform 14"/>
              <p:cNvSpPr/>
              <p:nvPr/>
            </p:nvSpPr>
            <p:spPr>
              <a:xfrm>
                <a:off x="13601" y="1905"/>
                <a:ext cx="3802" cy="2562"/>
              </a:xfrm>
              <a:custGeom>
                <a:avLst/>
                <a:gdLst/>
                <a:ahLst/>
                <a:cxnLst/>
                <a:rect l="l" t="t" r="r" b="b"/>
                <a:pathLst>
                  <a:path w="2139215" h="1441441">
                    <a:moveTo>
                      <a:pt x="0" y="1134815"/>
                    </a:moveTo>
                    <a:lnTo>
                      <a:pt x="831342" y="303037"/>
                    </a:lnTo>
                    <a:lnTo>
                      <a:pt x="1363089" y="303037"/>
                    </a:lnTo>
                    <a:cubicBezTo>
                      <a:pt x="1369827" y="303086"/>
                      <a:pt x="1376049" y="299434"/>
                      <a:pt x="1379294" y="293526"/>
                    </a:cubicBezTo>
                    <a:cubicBezTo>
                      <a:pt x="1382538" y="287617"/>
                      <a:pt x="1382283" y="280404"/>
                      <a:pt x="1378629" y="274741"/>
                    </a:cubicBezTo>
                    <a:lnTo>
                      <a:pt x="1349570" y="230120"/>
                    </a:lnTo>
                    <a:cubicBezTo>
                      <a:pt x="1322029" y="189052"/>
                      <a:pt x="1311913" y="138723"/>
                      <a:pt x="1321445" y="90195"/>
                    </a:cubicBezTo>
                    <a:cubicBezTo>
                      <a:pt x="1325472" y="63769"/>
                      <a:pt x="1339078" y="39751"/>
                      <a:pt x="1359671" y="22720"/>
                    </a:cubicBezTo>
                    <a:cubicBezTo>
                      <a:pt x="1377935" y="9698"/>
                      <a:pt x="1399451" y="2002"/>
                      <a:pt x="1421827" y="487"/>
                    </a:cubicBezTo>
                    <a:cubicBezTo>
                      <a:pt x="1473238" y="-3400"/>
                      <a:pt x="1523656" y="16138"/>
                      <a:pt x="1559037" y="53659"/>
                    </a:cubicBezTo>
                    <a:lnTo>
                      <a:pt x="2097778" y="606208"/>
                    </a:lnTo>
                    <a:cubicBezTo>
                      <a:pt x="2097778" y="606208"/>
                      <a:pt x="2191012" y="684722"/>
                      <a:pt x="2097778" y="808323"/>
                    </a:cubicBezTo>
                    <a:cubicBezTo>
                      <a:pt x="2020082" y="911712"/>
                      <a:pt x="1672784" y="1274740"/>
                      <a:pt x="1559037" y="1392433"/>
                    </a:cubicBezTo>
                    <a:cubicBezTo>
                      <a:pt x="1531344" y="1421458"/>
                      <a:pt x="1493714" y="1438950"/>
                      <a:pt x="1453682" y="1441407"/>
                    </a:cubicBezTo>
                    <a:cubicBezTo>
                      <a:pt x="1411590" y="1442351"/>
                      <a:pt x="1371429" y="1423753"/>
                      <a:pt x="1344909" y="1391034"/>
                    </a:cubicBezTo>
                    <a:cubicBezTo>
                      <a:pt x="1340758" y="1385749"/>
                      <a:pt x="1337312" y="1379949"/>
                      <a:pt x="1334653" y="1373776"/>
                    </a:cubicBezTo>
                    <a:cubicBezTo>
                      <a:pt x="1314696" y="1318694"/>
                      <a:pt x="1323682" y="1257267"/>
                      <a:pt x="1358583" y="1210219"/>
                    </a:cubicBezTo>
                    <a:lnTo>
                      <a:pt x="1386553" y="1170885"/>
                    </a:lnTo>
                    <a:cubicBezTo>
                      <a:pt x="1390615" y="1165393"/>
                      <a:pt x="1391226" y="1158077"/>
                      <a:pt x="1388134" y="1151987"/>
                    </a:cubicBezTo>
                    <a:cubicBezTo>
                      <a:pt x="1385041" y="1145897"/>
                      <a:pt x="1378775" y="1142077"/>
                      <a:pt x="1371947" y="1142122"/>
                    </a:cubicBezTo>
                    <a:lnTo>
                      <a:pt x="0" y="1134815"/>
                    </a:lnTo>
                    <a:close/>
                  </a:path>
                </a:pathLst>
              </a:custGeom>
              <a:grpFill/>
              <a:ln cap="flat">
                <a:noFill/>
                <a:prstDash val="solid"/>
                <a:miter lim="800000"/>
              </a:ln>
            </p:spPr>
            <p:txBody>
              <a:bodyPr rot="0" vert="horz" wrap="square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15214" y="2899"/>
                <a:ext cx="575" cy="575"/>
              </a:xfrm>
              <a:custGeom>
                <a:avLst/>
                <a:gdLst/>
                <a:ahLst/>
                <a:cxnLst/>
                <a:rect l="l" t="t" r="r" b="b"/>
                <a:pathLst>
                  <a:path w="323273" h="323300">
                    <a:moveTo>
                      <a:pt x="186603" y="183405"/>
                    </a:moveTo>
                    <a:lnTo>
                      <a:pt x="282354" y="183405"/>
                    </a:lnTo>
                    <a:cubicBezTo>
                      <a:pt x="294761" y="183405"/>
                      <a:pt x="304820" y="193406"/>
                      <a:pt x="304820" y="205745"/>
                    </a:cubicBezTo>
                    <a:lnTo>
                      <a:pt x="304820" y="300960"/>
                    </a:lnTo>
                    <a:cubicBezTo>
                      <a:pt x="304820" y="313299"/>
                      <a:pt x="294761" y="323300"/>
                      <a:pt x="282354" y="323300"/>
                    </a:cubicBezTo>
                    <a:lnTo>
                      <a:pt x="186603" y="323300"/>
                    </a:lnTo>
                    <a:cubicBezTo>
                      <a:pt x="174195" y="323300"/>
                      <a:pt x="164137" y="313299"/>
                      <a:pt x="164137" y="300960"/>
                    </a:cubicBezTo>
                    <a:lnTo>
                      <a:pt x="164137" y="205745"/>
                    </a:lnTo>
                    <a:cubicBezTo>
                      <a:pt x="164137" y="193406"/>
                      <a:pt x="174195" y="183405"/>
                      <a:pt x="186603" y="183405"/>
                    </a:cubicBezTo>
                    <a:close/>
                    <a:moveTo>
                      <a:pt x="22466" y="183405"/>
                    </a:moveTo>
                    <a:lnTo>
                      <a:pt x="118216" y="183405"/>
                    </a:lnTo>
                    <a:cubicBezTo>
                      <a:pt x="130624" y="183405"/>
                      <a:pt x="140682" y="193406"/>
                      <a:pt x="140682" y="205745"/>
                    </a:cubicBezTo>
                    <a:lnTo>
                      <a:pt x="140682" y="300960"/>
                    </a:lnTo>
                    <a:cubicBezTo>
                      <a:pt x="140682" y="313299"/>
                      <a:pt x="130624" y="323300"/>
                      <a:pt x="118216" y="323300"/>
                    </a:cubicBezTo>
                    <a:lnTo>
                      <a:pt x="22466" y="323300"/>
                    </a:lnTo>
                    <a:cubicBezTo>
                      <a:pt x="10058" y="323300"/>
                      <a:pt x="0" y="313299"/>
                      <a:pt x="0" y="300960"/>
                    </a:cubicBezTo>
                    <a:lnTo>
                      <a:pt x="0" y="205745"/>
                    </a:lnTo>
                    <a:cubicBezTo>
                      <a:pt x="0" y="193406"/>
                      <a:pt x="10058" y="183405"/>
                      <a:pt x="22466" y="183405"/>
                    </a:cubicBezTo>
                    <a:close/>
                    <a:moveTo>
                      <a:pt x="237255" y="53926"/>
                    </a:moveTo>
                    <a:lnTo>
                      <a:pt x="205489" y="85515"/>
                    </a:lnTo>
                    <a:lnTo>
                      <a:pt x="237255" y="117105"/>
                    </a:lnTo>
                    <a:lnTo>
                      <a:pt x="269023" y="85515"/>
                    </a:lnTo>
                    <a:close/>
                    <a:moveTo>
                      <a:pt x="22466" y="20185"/>
                    </a:moveTo>
                    <a:lnTo>
                      <a:pt x="118216" y="20185"/>
                    </a:lnTo>
                    <a:cubicBezTo>
                      <a:pt x="130624" y="20185"/>
                      <a:pt x="140682" y="30187"/>
                      <a:pt x="140682" y="42526"/>
                    </a:cubicBezTo>
                    <a:lnTo>
                      <a:pt x="140682" y="137741"/>
                    </a:lnTo>
                    <a:cubicBezTo>
                      <a:pt x="140682" y="150078"/>
                      <a:pt x="130624" y="160081"/>
                      <a:pt x="118216" y="160081"/>
                    </a:cubicBezTo>
                    <a:lnTo>
                      <a:pt x="22466" y="160081"/>
                    </a:lnTo>
                    <a:cubicBezTo>
                      <a:pt x="10058" y="160081"/>
                      <a:pt x="0" y="150078"/>
                      <a:pt x="0" y="137741"/>
                    </a:cubicBezTo>
                    <a:lnTo>
                      <a:pt x="0" y="42526"/>
                    </a:lnTo>
                    <a:cubicBezTo>
                      <a:pt x="0" y="30187"/>
                      <a:pt x="10058" y="20185"/>
                      <a:pt x="22466" y="20185"/>
                    </a:cubicBezTo>
                    <a:close/>
                    <a:moveTo>
                      <a:pt x="237233" y="0"/>
                    </a:moveTo>
                    <a:cubicBezTo>
                      <a:pt x="242982" y="0"/>
                      <a:pt x="248730" y="2181"/>
                      <a:pt x="253117" y="6541"/>
                    </a:cubicBezTo>
                    <a:lnTo>
                      <a:pt x="253139" y="6541"/>
                    </a:lnTo>
                    <a:lnTo>
                      <a:pt x="316696" y="69720"/>
                    </a:lnTo>
                    <a:cubicBezTo>
                      <a:pt x="325466" y="78444"/>
                      <a:pt x="325466" y="92586"/>
                      <a:pt x="316696" y="101310"/>
                    </a:cubicBezTo>
                    <a:lnTo>
                      <a:pt x="253139" y="164510"/>
                    </a:lnTo>
                    <a:cubicBezTo>
                      <a:pt x="244366" y="173232"/>
                      <a:pt x="230145" y="173232"/>
                      <a:pt x="221372" y="164510"/>
                    </a:cubicBezTo>
                    <a:lnTo>
                      <a:pt x="157837" y="101310"/>
                    </a:lnTo>
                    <a:cubicBezTo>
                      <a:pt x="149068" y="92586"/>
                      <a:pt x="149068" y="78444"/>
                      <a:pt x="157837" y="69720"/>
                    </a:cubicBezTo>
                    <a:lnTo>
                      <a:pt x="221350" y="6541"/>
                    </a:lnTo>
                    <a:cubicBezTo>
                      <a:pt x="225736" y="2181"/>
                      <a:pt x="231485" y="0"/>
                      <a:pt x="237233" y="0"/>
                    </a:cubicBezTo>
                    <a:close/>
                  </a:path>
                </a:pathLst>
              </a:custGeom>
              <a:solidFill>
                <a:srgbClr val="CBDCFF"/>
              </a:solidFill>
              <a:ln cap="flat">
                <a:noFill/>
                <a:prstDash val="solid"/>
                <a:miter lim="800000"/>
              </a:ln>
            </p:spPr>
            <p:txBody>
              <a:bodyPr vert="horz" wrap="square" lIns="91440" tIns="45720" rIns="91440" bIns="45720" anchor="ctr">
                <a:noAutofit/>
              </a:bodyPr>
              <a:lstStyle/>
              <a:p>
                <a:pPr marL="0" algn="l"/>
                <a:endParaRPr/>
              </a:p>
            </p:txBody>
          </p:sp>
        </p:grpSp>
      </p:grpSp>
      <p:sp>
        <p:nvSpPr>
          <p:cNvPr id="16" name="TextBox 16"/>
          <p:cNvSpPr txBox="1"/>
          <p:nvPr/>
        </p:nvSpPr>
        <p:spPr>
          <a:xfrm>
            <a:off x="1015683" y="2990215"/>
            <a:ext cx="3178810" cy="74803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2787DC"/>
                </a:solidFill>
                <a:latin typeface="思源黑体 Normal"/>
                <a:ea typeface="思源黑体 Normal"/>
              </a:rPr>
              <a:t>Real-Time Stream Ingestion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015683" y="3651885"/>
            <a:ext cx="3178810" cy="2771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chemeClr val="tx1"/>
                </a:solidFill>
                <a:latin typeface="思源黑体 Normal"/>
                <a:ea typeface="思源黑体 Normal"/>
              </a:rPr>
              <a:t>Event-driven ingestion from ATM/UPI logs via Event Grid, Azure Function, and Cosmos DB for immediate insights.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4530725" y="3651885"/>
            <a:ext cx="3178810" cy="2771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 dirty="0">
                <a:solidFill>
                  <a:schemeClr val="tx1"/>
                </a:solidFill>
                <a:latin typeface="思源黑体 Normal"/>
                <a:ea typeface="思源黑体 Normal"/>
              </a:rPr>
              <a:t>Bulk data handling of core banking batch files using Blob Storage/ADLS for comprehensive data analysis.</a:t>
            </a:r>
            <a:endParaRPr lang="en-US" sz="1100" dirty="0"/>
          </a:p>
        </p:txBody>
      </p:sp>
      <p:sp>
        <p:nvSpPr>
          <p:cNvPr id="19" name="TextBox 19"/>
          <p:cNvSpPr txBox="1"/>
          <p:nvPr/>
        </p:nvSpPr>
        <p:spPr>
          <a:xfrm>
            <a:off x="8044498" y="2990215"/>
            <a:ext cx="3178810" cy="74803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99000"/>
              </a:lnSpc>
              <a:defRPr/>
            </a:pPr>
            <a:r>
              <a:rPr lang="en-US" sz="2000" b="1" i="0" u="none" baseline="0">
                <a:solidFill>
                  <a:srgbClr val="2787DC"/>
                </a:solidFill>
                <a:latin typeface="思源黑体 Normal"/>
                <a:ea typeface="思源黑体 Normal"/>
              </a:rPr>
              <a:t>ETL &amp; Transformation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8044498" y="3651885"/>
            <a:ext cx="3178810" cy="2771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chemeClr val="tx1"/>
                </a:solidFill>
                <a:latin typeface="思源黑体 Normal"/>
                <a:ea typeface="思源黑体 Normal"/>
              </a:rPr>
              <a:t>PySpark ETL processing with Synapse/Azure SQL DWH for refined data to support reporting and BI.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4530725" y="2990215"/>
            <a:ext cx="3178810" cy="7480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 dirty="0">
                <a:solidFill>
                  <a:srgbClr val="2787DC"/>
                </a:solidFill>
                <a:latin typeface="思源黑体 Normal"/>
                <a:ea typeface="思源黑体 Normal"/>
              </a:rPr>
              <a:t>Batch Ingestion</a:t>
            </a:r>
            <a:endParaRPr lang="en-US" sz="1100" dirty="0"/>
          </a:p>
        </p:txBody>
      </p:sp>
      <p:sp>
        <p:nvSpPr>
          <p:cNvPr id="22" name="Freeform 22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2787DC"/>
          </a:solidFill>
        </p:spPr>
      </p:sp>
      <p:sp>
        <p:nvSpPr>
          <p:cNvPr id="23" name="TextBox 23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 dirty="0">
                <a:ln/>
                <a:solidFill>
                  <a:srgbClr val="2787DC"/>
                </a:solidFill>
                <a:latin typeface="思源黑体 Normal"/>
                <a:ea typeface="思源黑体 Normal"/>
              </a:rPr>
              <a:t>Architectural Overview: Lambda 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939384" y="4510558"/>
            <a:ext cx="2899773" cy="1525186"/>
          </a:xfrm>
          <a:custGeom>
            <a:avLst/>
            <a:gdLst/>
            <a:ahLst/>
            <a:cxnLst/>
            <a:rect l="l" t="t" r="r" b="b"/>
            <a:pathLst>
              <a:path w="2668680" h="1534735">
                <a:moveTo>
                  <a:pt x="1334340" y="1534736"/>
                </a:moveTo>
                <a:lnTo>
                  <a:pt x="0" y="757593"/>
                </a:lnTo>
                <a:lnTo>
                  <a:pt x="1334340" y="0"/>
                </a:lnTo>
                <a:lnTo>
                  <a:pt x="2668681" y="762480"/>
                </a:lnTo>
                <a:close/>
              </a:path>
            </a:pathLst>
          </a:custGeom>
          <a:solidFill>
            <a:srgbClr val="2787DC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6495261" y="4800376"/>
            <a:ext cx="1788016" cy="945551"/>
          </a:xfrm>
          <a:custGeom>
            <a:avLst/>
            <a:gdLst/>
            <a:ahLst/>
            <a:cxnLst/>
            <a:rect l="l" t="t" r="r" b="b"/>
            <a:pathLst>
              <a:path w="1645523" h="951471">
                <a:moveTo>
                  <a:pt x="826020" y="951471"/>
                </a:moveTo>
                <a:lnTo>
                  <a:pt x="0" y="457814"/>
                </a:lnTo>
                <a:lnTo>
                  <a:pt x="817874" y="0"/>
                </a:lnTo>
                <a:lnTo>
                  <a:pt x="1645523" y="469219"/>
                </a:lnTo>
                <a:close/>
              </a:path>
            </a:pathLst>
          </a:custGeom>
          <a:solidFill>
            <a:srgbClr val="CBDCFF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7389270" y="2933560"/>
            <a:ext cx="2898002" cy="1525186"/>
          </a:xfrm>
          <a:custGeom>
            <a:avLst/>
            <a:gdLst/>
            <a:ahLst/>
            <a:cxnLst/>
            <a:rect l="l" t="t" r="r" b="b"/>
            <a:pathLst>
              <a:path w="2667051" h="1534735">
                <a:moveTo>
                  <a:pt x="1334340" y="1534736"/>
                </a:moveTo>
                <a:lnTo>
                  <a:pt x="0" y="757592"/>
                </a:lnTo>
                <a:lnTo>
                  <a:pt x="1334340" y="0"/>
                </a:lnTo>
                <a:lnTo>
                  <a:pt x="2667052" y="764110"/>
                </a:lnTo>
                <a:close/>
              </a:path>
            </a:pathLst>
          </a:custGeom>
          <a:solidFill>
            <a:srgbClr val="2787DC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7945148" y="3223377"/>
            <a:ext cx="1788016" cy="945550"/>
          </a:xfrm>
          <a:custGeom>
            <a:avLst/>
            <a:gdLst/>
            <a:ahLst/>
            <a:cxnLst/>
            <a:rect l="l" t="t" r="r" b="b"/>
            <a:pathLst>
              <a:path w="1645523" h="951470">
                <a:moveTo>
                  <a:pt x="826020" y="951471"/>
                </a:moveTo>
                <a:lnTo>
                  <a:pt x="0" y="459443"/>
                </a:lnTo>
                <a:lnTo>
                  <a:pt x="817874" y="0"/>
                </a:lnTo>
                <a:lnTo>
                  <a:pt x="1645523" y="470848"/>
                </a:lnTo>
                <a:close/>
              </a:path>
            </a:pathLst>
          </a:custGeom>
          <a:solidFill>
            <a:srgbClr val="CBDCFF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8839157" y="1356562"/>
            <a:ext cx="2898002" cy="1525186"/>
          </a:xfrm>
          <a:custGeom>
            <a:avLst/>
            <a:gdLst/>
            <a:ahLst/>
            <a:cxnLst/>
            <a:rect l="l" t="t" r="r" b="b"/>
            <a:pathLst>
              <a:path w="2667051" h="1534735">
                <a:moveTo>
                  <a:pt x="1332711" y="1534736"/>
                </a:moveTo>
                <a:lnTo>
                  <a:pt x="0" y="759222"/>
                </a:lnTo>
                <a:lnTo>
                  <a:pt x="1332711" y="0"/>
                </a:lnTo>
                <a:lnTo>
                  <a:pt x="2667051" y="764110"/>
                </a:lnTo>
                <a:close/>
              </a:path>
            </a:pathLst>
          </a:custGeom>
          <a:solidFill>
            <a:srgbClr val="2787DC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9393264" y="1646380"/>
            <a:ext cx="1789786" cy="945551"/>
          </a:xfrm>
          <a:custGeom>
            <a:avLst/>
            <a:gdLst/>
            <a:ahLst/>
            <a:cxnLst/>
            <a:rect l="l" t="t" r="r" b="b"/>
            <a:pathLst>
              <a:path w="1647152" h="951471">
                <a:moveTo>
                  <a:pt x="827649" y="951471"/>
                </a:moveTo>
                <a:lnTo>
                  <a:pt x="0" y="459443"/>
                </a:lnTo>
                <a:lnTo>
                  <a:pt x="819503" y="0"/>
                </a:lnTo>
                <a:lnTo>
                  <a:pt x="1647153" y="470848"/>
                </a:lnTo>
                <a:close/>
              </a:path>
            </a:pathLst>
          </a:custGeom>
          <a:solidFill>
            <a:srgbClr val="CBDCFF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7389270" y="3686439"/>
            <a:ext cx="1449886" cy="1581855"/>
          </a:xfrm>
          <a:custGeom>
            <a:avLst/>
            <a:gdLst/>
            <a:ahLst/>
            <a:cxnLst/>
            <a:rect l="l" t="t" r="r" b="b"/>
            <a:pathLst>
              <a:path w="1334340" h="1591759">
                <a:moveTo>
                  <a:pt x="0" y="0"/>
                </a:moveTo>
                <a:lnTo>
                  <a:pt x="0" y="829279"/>
                </a:lnTo>
                <a:lnTo>
                  <a:pt x="1334340" y="1591759"/>
                </a:lnTo>
                <a:lnTo>
                  <a:pt x="1334340" y="777144"/>
                </a:lnTo>
                <a:close/>
              </a:path>
            </a:pathLst>
          </a:custGeom>
          <a:solidFill>
            <a:srgbClr val="CBDCFF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8839157" y="2111060"/>
            <a:ext cx="1448116" cy="1581854"/>
          </a:xfrm>
          <a:custGeom>
            <a:avLst/>
            <a:gdLst/>
            <a:ahLst/>
            <a:cxnLst/>
            <a:rect l="l" t="t" r="r" b="b"/>
            <a:pathLst>
              <a:path w="1332711" h="1591758">
                <a:moveTo>
                  <a:pt x="0" y="0"/>
                </a:moveTo>
                <a:lnTo>
                  <a:pt x="0" y="827650"/>
                </a:lnTo>
                <a:lnTo>
                  <a:pt x="1332711" y="1591759"/>
                </a:lnTo>
                <a:lnTo>
                  <a:pt x="1332711" y="775514"/>
                </a:lnTo>
                <a:close/>
              </a:path>
            </a:pathLst>
          </a:custGeom>
          <a:solidFill>
            <a:srgbClr val="CBDCFF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7389270" y="2115918"/>
            <a:ext cx="4347889" cy="4120595"/>
          </a:xfrm>
          <a:custGeom>
            <a:avLst/>
            <a:gdLst/>
            <a:ahLst/>
            <a:cxnLst/>
            <a:rect l="l" t="t" r="r" b="b"/>
            <a:pathLst>
              <a:path w="4001391" h="4146393">
                <a:moveTo>
                  <a:pt x="2667052" y="772256"/>
                </a:moveTo>
                <a:lnTo>
                  <a:pt x="2667052" y="1586871"/>
                </a:lnTo>
                <a:lnTo>
                  <a:pt x="1334340" y="2357498"/>
                </a:lnTo>
                <a:lnTo>
                  <a:pt x="1334340" y="3172113"/>
                </a:lnTo>
                <a:lnTo>
                  <a:pt x="0" y="3944369"/>
                </a:lnTo>
                <a:lnTo>
                  <a:pt x="0" y="4146393"/>
                </a:lnTo>
                <a:lnTo>
                  <a:pt x="1502151" y="3273126"/>
                </a:lnTo>
                <a:lnTo>
                  <a:pt x="1502151" y="2456881"/>
                </a:lnTo>
                <a:lnTo>
                  <a:pt x="2825087" y="1687884"/>
                </a:lnTo>
                <a:lnTo>
                  <a:pt x="2825087" y="863493"/>
                </a:lnTo>
                <a:lnTo>
                  <a:pt x="4001392" y="190620"/>
                </a:lnTo>
                <a:lnTo>
                  <a:pt x="4001392" y="0"/>
                </a:lnTo>
                <a:close/>
              </a:path>
            </a:pathLst>
          </a:custGeom>
          <a:solidFill>
            <a:srgbClr val="CBDCFF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5939384" y="5263436"/>
            <a:ext cx="1449886" cy="973075"/>
          </a:xfrm>
          <a:custGeom>
            <a:avLst/>
            <a:gdLst/>
            <a:ahLst/>
            <a:cxnLst/>
            <a:rect l="l" t="t" r="r" b="b"/>
            <a:pathLst>
              <a:path w="1334340" h="979167">
                <a:moveTo>
                  <a:pt x="1334340" y="777143"/>
                </a:moveTo>
                <a:lnTo>
                  <a:pt x="0" y="0"/>
                </a:lnTo>
                <a:lnTo>
                  <a:pt x="0" y="215058"/>
                </a:lnTo>
                <a:lnTo>
                  <a:pt x="1334340" y="979168"/>
                </a:lnTo>
                <a:close/>
              </a:path>
            </a:pathLst>
          </a:custGeom>
          <a:solidFill>
            <a:srgbClr val="CBDCFF"/>
          </a:solidFill>
          <a:ln cap="flat">
            <a:noFill/>
            <a:prstDash val="solid"/>
            <a:miter lim="800000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10011893" y="1912890"/>
            <a:ext cx="552529" cy="412533"/>
          </a:xfrm>
          <a:custGeom>
            <a:avLst/>
            <a:gdLst/>
            <a:ahLst/>
            <a:cxnLst/>
            <a:rect l="l" t="t" r="r" b="b"/>
            <a:pathLst>
              <a:path w="360000" h="293890">
                <a:moveTo>
                  <a:pt x="54985" y="182858"/>
                </a:moveTo>
                <a:lnTo>
                  <a:pt x="54985" y="236325"/>
                </a:lnTo>
                <a:cubicBezTo>
                  <a:pt x="54985" y="241847"/>
                  <a:pt x="58360" y="246808"/>
                  <a:pt x="63497" y="248835"/>
                </a:cubicBezTo>
                <a:lnTo>
                  <a:pt x="175595" y="293069"/>
                </a:lnTo>
                <a:cubicBezTo>
                  <a:pt x="178806" y="294335"/>
                  <a:pt x="182384" y="294319"/>
                  <a:pt x="185583" y="293023"/>
                </a:cubicBezTo>
                <a:lnTo>
                  <a:pt x="298242" y="247361"/>
                </a:lnTo>
                <a:cubicBezTo>
                  <a:pt x="303318" y="245304"/>
                  <a:pt x="306639" y="240373"/>
                  <a:pt x="306639" y="234897"/>
                </a:cubicBezTo>
                <a:lnTo>
                  <a:pt x="306639" y="180962"/>
                </a:lnTo>
                <a:lnTo>
                  <a:pt x="351916" y="161747"/>
                </a:lnTo>
                <a:cubicBezTo>
                  <a:pt x="358754" y="158845"/>
                  <a:pt x="361944" y="150950"/>
                  <a:pt x="359041" y="144113"/>
                </a:cubicBezTo>
                <a:cubicBezTo>
                  <a:pt x="358388" y="142572"/>
                  <a:pt x="357452" y="141167"/>
                  <a:pt x="356283" y="139970"/>
                </a:cubicBezTo>
                <a:lnTo>
                  <a:pt x="306235" y="88731"/>
                </a:lnTo>
                <a:lnTo>
                  <a:pt x="351981" y="44654"/>
                </a:lnTo>
                <a:cubicBezTo>
                  <a:pt x="357329" y="39501"/>
                  <a:pt x="357488" y="30987"/>
                  <a:pt x="352335" y="25638"/>
                </a:cubicBezTo>
                <a:cubicBezTo>
                  <a:pt x="350498" y="23732"/>
                  <a:pt x="348140" y="22410"/>
                  <a:pt x="345554" y="21838"/>
                </a:cubicBezTo>
                <a:lnTo>
                  <a:pt x="249635" y="623"/>
                </a:lnTo>
                <a:cubicBezTo>
                  <a:pt x="245598" y="-270"/>
                  <a:pt x="241374" y="744"/>
                  <a:pt x="238181" y="3373"/>
                </a:cubicBezTo>
                <a:lnTo>
                  <a:pt x="184467" y="47611"/>
                </a:lnTo>
                <a:lnTo>
                  <a:pt x="125846" y="2875"/>
                </a:lnTo>
                <a:cubicBezTo>
                  <a:pt x="122790" y="542"/>
                  <a:pt x="118882" y="-370"/>
                  <a:pt x="115109" y="367"/>
                </a:cubicBezTo>
                <a:lnTo>
                  <a:pt x="16071" y="19712"/>
                </a:lnTo>
                <a:cubicBezTo>
                  <a:pt x="8782" y="21136"/>
                  <a:pt x="4027" y="28200"/>
                  <a:pt x="5451" y="35489"/>
                </a:cubicBezTo>
                <a:cubicBezTo>
                  <a:pt x="5966" y="38129"/>
                  <a:pt x="7262" y="40554"/>
                  <a:pt x="9170" y="42450"/>
                </a:cubicBezTo>
                <a:lnTo>
                  <a:pt x="56123" y="89112"/>
                </a:lnTo>
                <a:lnTo>
                  <a:pt x="64571" y="89112"/>
                </a:lnTo>
                <a:lnTo>
                  <a:pt x="180599" y="51860"/>
                </a:lnTo>
                <a:lnTo>
                  <a:pt x="297029" y="89112"/>
                </a:lnTo>
                <a:lnTo>
                  <a:pt x="187528" y="136757"/>
                </a:lnTo>
                <a:lnTo>
                  <a:pt x="64571" y="89112"/>
                </a:lnTo>
                <a:lnTo>
                  <a:pt x="55901" y="89112"/>
                </a:lnTo>
                <a:lnTo>
                  <a:pt x="4092" y="140500"/>
                </a:lnTo>
                <a:cubicBezTo>
                  <a:pt x="-1182" y="145730"/>
                  <a:pt x="-1216" y="154245"/>
                  <a:pt x="4014" y="159518"/>
                </a:cubicBezTo>
                <a:cubicBezTo>
                  <a:pt x="5208" y="160722"/>
                  <a:pt x="6617" y="161689"/>
                  <a:pt x="8170" y="162368"/>
                </a:cubicBezTo>
                <a:lnTo>
                  <a:pt x="54985" y="182858"/>
                </a:lnTo>
                <a:close/>
              </a:path>
            </a:pathLst>
          </a:custGeom>
          <a:solidFill>
            <a:srgbClr val="2787DC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8591867" y="3443487"/>
            <a:ext cx="494579" cy="505332"/>
          </a:xfrm>
          <a:custGeom>
            <a:avLst/>
            <a:gdLst/>
            <a:ahLst/>
            <a:cxnLst/>
            <a:rect l="l" t="t" r="r" b="b"/>
            <a:pathLst>
              <a:path w="322243" h="359999">
                <a:moveTo>
                  <a:pt x="171978" y="2949"/>
                </a:moveTo>
                <a:lnTo>
                  <a:pt x="311617" y="82365"/>
                </a:lnTo>
                <a:cubicBezTo>
                  <a:pt x="318264" y="86145"/>
                  <a:pt x="322359" y="93131"/>
                  <a:pt x="322359" y="100692"/>
                </a:cubicBezTo>
                <a:lnTo>
                  <a:pt x="322359" y="259524"/>
                </a:lnTo>
                <a:cubicBezTo>
                  <a:pt x="322359" y="267086"/>
                  <a:pt x="318264" y="274071"/>
                  <a:pt x="311617" y="277851"/>
                </a:cubicBezTo>
                <a:lnTo>
                  <a:pt x="171978" y="357279"/>
                </a:lnTo>
                <a:cubicBezTo>
                  <a:pt x="165331" y="361058"/>
                  <a:pt x="157142" y="361058"/>
                  <a:pt x="150496" y="357279"/>
                </a:cubicBezTo>
                <a:lnTo>
                  <a:pt x="10856" y="277851"/>
                </a:lnTo>
                <a:cubicBezTo>
                  <a:pt x="4210" y="274071"/>
                  <a:pt x="115" y="267086"/>
                  <a:pt x="115" y="259524"/>
                </a:cubicBezTo>
                <a:lnTo>
                  <a:pt x="115" y="100692"/>
                </a:lnTo>
                <a:cubicBezTo>
                  <a:pt x="115" y="93131"/>
                  <a:pt x="4210" y="86145"/>
                  <a:pt x="10856" y="82365"/>
                </a:cubicBezTo>
                <a:lnTo>
                  <a:pt x="150496" y="2949"/>
                </a:lnTo>
                <a:cubicBezTo>
                  <a:pt x="157142" y="-832"/>
                  <a:pt x="165331" y="-832"/>
                  <a:pt x="171978" y="2949"/>
                </a:cubicBezTo>
                <a:moveTo>
                  <a:pt x="165673" y="17656"/>
                </a:moveTo>
                <a:cubicBezTo>
                  <a:pt x="162928" y="16096"/>
                  <a:pt x="159546" y="16096"/>
                  <a:pt x="156801" y="17656"/>
                </a:cubicBezTo>
                <a:lnTo>
                  <a:pt x="20631" y="95089"/>
                </a:lnTo>
                <a:cubicBezTo>
                  <a:pt x="17885" y="96652"/>
                  <a:pt x="16194" y="99540"/>
                  <a:pt x="16195" y="102665"/>
                </a:cubicBezTo>
                <a:lnTo>
                  <a:pt x="16195" y="257551"/>
                </a:lnTo>
                <a:cubicBezTo>
                  <a:pt x="16195" y="260673"/>
                  <a:pt x="17887" y="263562"/>
                  <a:pt x="20631" y="265123"/>
                </a:cubicBezTo>
                <a:lnTo>
                  <a:pt x="156801" y="342571"/>
                </a:lnTo>
                <a:cubicBezTo>
                  <a:pt x="159546" y="344130"/>
                  <a:pt x="162928" y="344130"/>
                  <a:pt x="165673" y="342571"/>
                </a:cubicBezTo>
                <a:lnTo>
                  <a:pt x="301843" y="265123"/>
                </a:lnTo>
                <a:cubicBezTo>
                  <a:pt x="304587" y="263562"/>
                  <a:pt x="306279" y="260678"/>
                  <a:pt x="306279" y="257551"/>
                </a:cubicBezTo>
                <a:lnTo>
                  <a:pt x="306279" y="102670"/>
                </a:lnTo>
                <a:cubicBezTo>
                  <a:pt x="306279" y="99544"/>
                  <a:pt x="304587" y="96655"/>
                  <a:pt x="301843" y="95094"/>
                </a:cubicBezTo>
                <a:lnTo>
                  <a:pt x="165673" y="17651"/>
                </a:lnTo>
                <a:lnTo>
                  <a:pt x="165673" y="17656"/>
                </a:lnTo>
                <a:moveTo>
                  <a:pt x="158551" y="35232"/>
                </a:moveTo>
                <a:cubicBezTo>
                  <a:pt x="160214" y="34287"/>
                  <a:pt x="162260" y="34287"/>
                  <a:pt x="163922" y="35232"/>
                </a:cubicBezTo>
                <a:lnTo>
                  <a:pt x="287261" y="105374"/>
                </a:lnTo>
                <a:cubicBezTo>
                  <a:pt x="288923" y="106319"/>
                  <a:pt x="289946" y="108065"/>
                  <a:pt x="289946" y="109955"/>
                </a:cubicBezTo>
                <a:lnTo>
                  <a:pt x="289946" y="250250"/>
                </a:lnTo>
                <a:cubicBezTo>
                  <a:pt x="289946" y="252141"/>
                  <a:pt x="288923" y="253886"/>
                  <a:pt x="287261" y="254832"/>
                </a:cubicBezTo>
                <a:lnTo>
                  <a:pt x="163922" y="324985"/>
                </a:lnTo>
                <a:cubicBezTo>
                  <a:pt x="162260" y="325930"/>
                  <a:pt x="160214" y="325930"/>
                  <a:pt x="158551" y="324985"/>
                </a:cubicBezTo>
                <a:lnTo>
                  <a:pt x="35213" y="254837"/>
                </a:lnTo>
                <a:cubicBezTo>
                  <a:pt x="33551" y="253892"/>
                  <a:pt x="32527" y="252146"/>
                  <a:pt x="32527" y="250256"/>
                </a:cubicBezTo>
                <a:lnTo>
                  <a:pt x="32527" y="109961"/>
                </a:lnTo>
                <a:cubicBezTo>
                  <a:pt x="32527" y="108071"/>
                  <a:pt x="33551" y="106324"/>
                  <a:pt x="35213" y="105379"/>
                </a:cubicBezTo>
                <a:lnTo>
                  <a:pt x="158551" y="35242"/>
                </a:lnTo>
                <a:lnTo>
                  <a:pt x="158551" y="35232"/>
                </a:lnTo>
                <a:moveTo>
                  <a:pt x="147026" y="95454"/>
                </a:moveTo>
                <a:cubicBezTo>
                  <a:pt x="145886" y="95453"/>
                  <a:pt x="144869" y="96162"/>
                  <a:pt x="144490" y="97221"/>
                </a:cubicBezTo>
                <a:lnTo>
                  <a:pt x="114162" y="181870"/>
                </a:lnTo>
                <a:cubicBezTo>
                  <a:pt x="113873" y="182679"/>
                  <a:pt x="114001" y="183577"/>
                  <a:pt x="114504" y="184277"/>
                </a:cubicBezTo>
                <a:cubicBezTo>
                  <a:pt x="115008" y="184978"/>
                  <a:pt x="115826" y="185393"/>
                  <a:pt x="116697" y="185393"/>
                </a:cubicBezTo>
                <a:lnTo>
                  <a:pt x="158235" y="185393"/>
                </a:lnTo>
                <a:cubicBezTo>
                  <a:pt x="158998" y="185393"/>
                  <a:pt x="159726" y="185714"/>
                  <a:pt x="160235" y="186274"/>
                </a:cubicBezTo>
                <a:cubicBezTo>
                  <a:pt x="160745" y="186835"/>
                  <a:pt x="160987" y="187582"/>
                  <a:pt x="160904" y="188330"/>
                </a:cubicBezTo>
                <a:lnTo>
                  <a:pt x="152240" y="265170"/>
                </a:lnTo>
                <a:cubicBezTo>
                  <a:pt x="152104" y="266447"/>
                  <a:pt x="152918" y="267638"/>
                  <a:pt x="154172" y="267991"/>
                </a:cubicBezTo>
                <a:cubicBezTo>
                  <a:pt x="155426" y="268344"/>
                  <a:pt x="156757" y="267760"/>
                  <a:pt x="157327" y="266604"/>
                </a:cubicBezTo>
                <a:lnTo>
                  <a:pt x="213096" y="152164"/>
                </a:lnTo>
                <a:cubicBezTo>
                  <a:pt x="213497" y="151344"/>
                  <a:pt x="213443" y="150380"/>
                  <a:pt x="212952" y="149609"/>
                </a:cubicBezTo>
                <a:cubicBezTo>
                  <a:pt x="212460" y="148839"/>
                  <a:pt x="211603" y="148371"/>
                  <a:pt x="210680" y="148370"/>
                </a:cubicBezTo>
                <a:lnTo>
                  <a:pt x="177854" y="148370"/>
                </a:lnTo>
                <a:cubicBezTo>
                  <a:pt x="176979" y="148370"/>
                  <a:pt x="176159" y="147950"/>
                  <a:pt x="175656" y="147244"/>
                </a:cubicBezTo>
                <a:cubicBezTo>
                  <a:pt x="175154" y="146538"/>
                  <a:pt x="175032" y="145636"/>
                  <a:pt x="175330" y="144825"/>
                </a:cubicBezTo>
                <a:lnTo>
                  <a:pt x="192156" y="99009"/>
                </a:lnTo>
                <a:cubicBezTo>
                  <a:pt x="192454" y="98199"/>
                  <a:pt x="192332" y="97296"/>
                  <a:pt x="191829" y="96591"/>
                </a:cubicBezTo>
                <a:cubicBezTo>
                  <a:pt x="191326" y="95885"/>
                  <a:pt x="190507" y="95465"/>
                  <a:pt x="189632" y="95465"/>
                </a:cubicBezTo>
                <a:lnTo>
                  <a:pt x="147026" y="95465"/>
                </a:lnTo>
                <a:lnTo>
                  <a:pt x="147026" y="95454"/>
                </a:lnTo>
              </a:path>
            </a:pathLst>
          </a:custGeom>
          <a:solidFill>
            <a:srgbClr val="2787DC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7113011" y="5029434"/>
            <a:ext cx="552528" cy="487434"/>
          </a:xfrm>
          <a:custGeom>
            <a:avLst/>
            <a:gdLst/>
            <a:ahLst/>
            <a:cxnLst/>
            <a:rect l="l" t="t" r="r" b="b"/>
            <a:pathLst>
              <a:path w="359999" h="347249">
                <a:moveTo>
                  <a:pt x="272320" y="271816"/>
                </a:moveTo>
                <a:cubicBezTo>
                  <a:pt x="256765" y="242497"/>
                  <a:pt x="228188" y="227208"/>
                  <a:pt x="195993" y="214436"/>
                </a:cubicBezTo>
                <a:cubicBezTo>
                  <a:pt x="191110" y="212458"/>
                  <a:pt x="189120" y="206882"/>
                  <a:pt x="191472" y="202384"/>
                </a:cubicBezTo>
                <a:lnTo>
                  <a:pt x="191472" y="202204"/>
                </a:lnTo>
                <a:lnTo>
                  <a:pt x="192014" y="201126"/>
                </a:lnTo>
                <a:cubicBezTo>
                  <a:pt x="206304" y="181339"/>
                  <a:pt x="218782" y="156336"/>
                  <a:pt x="220592" y="124319"/>
                </a:cubicBezTo>
                <a:cubicBezTo>
                  <a:pt x="224028" y="87624"/>
                  <a:pt x="210101" y="61722"/>
                  <a:pt x="190748" y="42296"/>
                </a:cubicBezTo>
                <a:cubicBezTo>
                  <a:pt x="188035" y="39598"/>
                  <a:pt x="187312" y="35461"/>
                  <a:pt x="189120" y="32043"/>
                </a:cubicBezTo>
                <a:cubicBezTo>
                  <a:pt x="198344" y="15135"/>
                  <a:pt x="212634" y="1824"/>
                  <a:pt x="238679" y="205"/>
                </a:cubicBezTo>
                <a:cubicBezTo>
                  <a:pt x="278470" y="-1594"/>
                  <a:pt x="300174" y="23589"/>
                  <a:pt x="303791" y="55966"/>
                </a:cubicBezTo>
                <a:cubicBezTo>
                  <a:pt x="309217" y="91941"/>
                  <a:pt x="296557" y="120721"/>
                  <a:pt x="282087" y="138709"/>
                </a:cubicBezTo>
                <a:cubicBezTo>
                  <a:pt x="280278" y="142307"/>
                  <a:pt x="276660" y="144105"/>
                  <a:pt x="274852" y="147703"/>
                </a:cubicBezTo>
                <a:cubicBezTo>
                  <a:pt x="273405" y="150580"/>
                  <a:pt x="273043" y="157236"/>
                  <a:pt x="274128" y="161553"/>
                </a:cubicBezTo>
                <a:cubicBezTo>
                  <a:pt x="274491" y="163352"/>
                  <a:pt x="275394" y="164791"/>
                  <a:pt x="276842" y="166050"/>
                </a:cubicBezTo>
                <a:cubicBezTo>
                  <a:pt x="281906" y="170367"/>
                  <a:pt x="292215" y="173425"/>
                  <a:pt x="298546" y="176662"/>
                </a:cubicBezTo>
                <a:cubicBezTo>
                  <a:pt x="307589" y="180260"/>
                  <a:pt x="314824" y="183857"/>
                  <a:pt x="322058" y="187455"/>
                </a:cubicBezTo>
                <a:cubicBezTo>
                  <a:pt x="336528" y="194650"/>
                  <a:pt x="352805" y="205442"/>
                  <a:pt x="358232" y="219833"/>
                </a:cubicBezTo>
                <a:cubicBezTo>
                  <a:pt x="361850" y="228827"/>
                  <a:pt x="360040" y="246813"/>
                  <a:pt x="354615" y="254008"/>
                </a:cubicBezTo>
                <a:cubicBezTo>
                  <a:pt x="342858" y="270737"/>
                  <a:pt x="309035" y="273435"/>
                  <a:pt x="281182" y="276672"/>
                </a:cubicBezTo>
                <a:cubicBezTo>
                  <a:pt x="277565" y="276853"/>
                  <a:pt x="274128" y="275053"/>
                  <a:pt x="272320" y="271816"/>
                </a:cubicBezTo>
                <a:moveTo>
                  <a:pt x="114" y="307791"/>
                </a:moveTo>
                <a:lnTo>
                  <a:pt x="114" y="295199"/>
                </a:lnTo>
                <a:cubicBezTo>
                  <a:pt x="114" y="291603"/>
                  <a:pt x="1923" y="288004"/>
                  <a:pt x="3731" y="284408"/>
                </a:cubicBezTo>
                <a:cubicBezTo>
                  <a:pt x="10785" y="270197"/>
                  <a:pt x="25074" y="261204"/>
                  <a:pt x="37554" y="252389"/>
                </a:cubicBezTo>
                <a:cubicBezTo>
                  <a:pt x="37915" y="252210"/>
                  <a:pt x="38277" y="251850"/>
                  <a:pt x="38639" y="251670"/>
                </a:cubicBezTo>
                <a:cubicBezTo>
                  <a:pt x="49310" y="246454"/>
                  <a:pt x="59981" y="241057"/>
                  <a:pt x="72461" y="235841"/>
                </a:cubicBezTo>
                <a:cubicBezTo>
                  <a:pt x="75536" y="234403"/>
                  <a:pt x="79877" y="232784"/>
                  <a:pt x="83313" y="231344"/>
                </a:cubicBezTo>
                <a:cubicBezTo>
                  <a:pt x="84579" y="230805"/>
                  <a:pt x="85664" y="230085"/>
                  <a:pt x="86388" y="229006"/>
                </a:cubicBezTo>
                <a:cubicBezTo>
                  <a:pt x="91633" y="222710"/>
                  <a:pt x="97240" y="209759"/>
                  <a:pt x="92176" y="199866"/>
                </a:cubicBezTo>
                <a:cubicBezTo>
                  <a:pt x="90367" y="196269"/>
                  <a:pt x="88558" y="194470"/>
                  <a:pt x="85122" y="191052"/>
                </a:cubicBezTo>
                <a:lnTo>
                  <a:pt x="84760" y="190693"/>
                </a:lnTo>
                <a:cubicBezTo>
                  <a:pt x="68482" y="172705"/>
                  <a:pt x="54193" y="142127"/>
                  <a:pt x="57811" y="106331"/>
                </a:cubicBezTo>
                <a:cubicBezTo>
                  <a:pt x="61428" y="70356"/>
                  <a:pt x="84941" y="45174"/>
                  <a:pt x="124732" y="45174"/>
                </a:cubicBezTo>
                <a:cubicBezTo>
                  <a:pt x="164341" y="45174"/>
                  <a:pt x="187855" y="70176"/>
                  <a:pt x="193462" y="105972"/>
                </a:cubicBezTo>
                <a:cubicBezTo>
                  <a:pt x="193462" y="106331"/>
                  <a:pt x="193462" y="106511"/>
                  <a:pt x="193642" y="106871"/>
                </a:cubicBezTo>
                <a:cubicBezTo>
                  <a:pt x="195270" y="128276"/>
                  <a:pt x="190025" y="147883"/>
                  <a:pt x="184599" y="160474"/>
                </a:cubicBezTo>
                <a:cubicBezTo>
                  <a:pt x="179354" y="172885"/>
                  <a:pt x="173927" y="181699"/>
                  <a:pt x="166874" y="190513"/>
                </a:cubicBezTo>
                <a:cubicBezTo>
                  <a:pt x="166512" y="190872"/>
                  <a:pt x="166331" y="191232"/>
                  <a:pt x="166151" y="191593"/>
                </a:cubicBezTo>
                <a:cubicBezTo>
                  <a:pt x="164341" y="194470"/>
                  <a:pt x="161447" y="196269"/>
                  <a:pt x="159639" y="199146"/>
                </a:cubicBezTo>
                <a:cubicBezTo>
                  <a:pt x="159278" y="199687"/>
                  <a:pt x="159096" y="200226"/>
                  <a:pt x="158916" y="200945"/>
                </a:cubicBezTo>
                <a:cubicBezTo>
                  <a:pt x="155840" y="211558"/>
                  <a:pt x="159278" y="225409"/>
                  <a:pt x="162895" y="230624"/>
                </a:cubicBezTo>
                <a:cubicBezTo>
                  <a:pt x="164703" y="234042"/>
                  <a:pt x="171576" y="234223"/>
                  <a:pt x="177003" y="235841"/>
                </a:cubicBezTo>
                <a:cubicBezTo>
                  <a:pt x="177365" y="236022"/>
                  <a:pt x="177545" y="236022"/>
                  <a:pt x="177906" y="236200"/>
                </a:cubicBezTo>
                <a:cubicBezTo>
                  <a:pt x="199430" y="245194"/>
                  <a:pt x="220773" y="255807"/>
                  <a:pt x="236869" y="270018"/>
                </a:cubicBezTo>
                <a:cubicBezTo>
                  <a:pt x="237051" y="270197"/>
                  <a:pt x="237231" y="270377"/>
                  <a:pt x="237412" y="270377"/>
                </a:cubicBezTo>
                <a:cubicBezTo>
                  <a:pt x="242114" y="275053"/>
                  <a:pt x="248264" y="281350"/>
                  <a:pt x="250797" y="289984"/>
                </a:cubicBezTo>
                <a:cubicBezTo>
                  <a:pt x="251339" y="291962"/>
                  <a:pt x="251520" y="294121"/>
                  <a:pt x="251520" y="296099"/>
                </a:cubicBezTo>
                <a:lnTo>
                  <a:pt x="251520" y="310130"/>
                </a:lnTo>
                <a:cubicBezTo>
                  <a:pt x="251520" y="311029"/>
                  <a:pt x="251339" y="311929"/>
                  <a:pt x="251159" y="312648"/>
                </a:cubicBezTo>
                <a:cubicBezTo>
                  <a:pt x="245009" y="331355"/>
                  <a:pt x="220230" y="336751"/>
                  <a:pt x="197260" y="341968"/>
                </a:cubicBezTo>
                <a:cubicBezTo>
                  <a:pt x="157468" y="349163"/>
                  <a:pt x="101400" y="349163"/>
                  <a:pt x="59800" y="341968"/>
                </a:cubicBezTo>
                <a:cubicBezTo>
                  <a:pt x="39905" y="338370"/>
                  <a:pt x="18201" y="332974"/>
                  <a:pt x="7349" y="320382"/>
                </a:cubicBezTo>
                <a:cubicBezTo>
                  <a:pt x="3731" y="318584"/>
                  <a:pt x="1923" y="314986"/>
                  <a:pt x="114" y="307791"/>
                </a:cubicBezTo>
              </a:path>
            </a:pathLst>
          </a:custGeom>
          <a:solidFill>
            <a:srgbClr val="2787DC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cxnSp>
        <p:nvCxnSpPr>
          <p:cNvPr id="15" name="Connector 15"/>
          <p:cNvCxnSpPr/>
          <p:nvPr/>
        </p:nvCxnSpPr>
        <p:spPr>
          <a:xfrm>
            <a:off x="8748332" y="1557953"/>
            <a:ext cx="1150196" cy="0"/>
          </a:xfrm>
          <a:prstGeom prst="line">
            <a:avLst/>
          </a:prstGeom>
          <a:ln w="9525">
            <a:solidFill>
              <a:schemeClr val="accent1"/>
            </a:solidFill>
            <a:headEnd type="oval"/>
          </a:ln>
        </p:spPr>
      </p:cxnSp>
      <p:cxnSp>
        <p:nvCxnSpPr>
          <p:cNvPr id="16" name="Connector 16"/>
          <p:cNvCxnSpPr/>
          <p:nvPr/>
        </p:nvCxnSpPr>
        <p:spPr>
          <a:xfrm>
            <a:off x="7229971" y="3272329"/>
            <a:ext cx="964844" cy="0"/>
          </a:xfrm>
          <a:prstGeom prst="line">
            <a:avLst/>
          </a:prstGeom>
          <a:ln w="9525">
            <a:solidFill>
              <a:schemeClr val="accent1"/>
            </a:solidFill>
            <a:headEnd type="oval"/>
          </a:ln>
        </p:spPr>
      </p:cxnSp>
      <p:cxnSp>
        <p:nvCxnSpPr>
          <p:cNvPr id="17" name="Connector 17"/>
          <p:cNvCxnSpPr/>
          <p:nvPr/>
        </p:nvCxnSpPr>
        <p:spPr>
          <a:xfrm>
            <a:off x="5696376" y="4950143"/>
            <a:ext cx="848048" cy="0"/>
          </a:xfrm>
          <a:prstGeom prst="line">
            <a:avLst/>
          </a:prstGeom>
          <a:ln w="9525">
            <a:solidFill>
              <a:schemeClr val="accent1"/>
            </a:solidFill>
            <a:headEnd type="oval"/>
          </a:ln>
        </p:spPr>
      </p:cxnSp>
      <p:sp>
        <p:nvSpPr>
          <p:cNvPr id="18" name="TextBox 18"/>
          <p:cNvSpPr txBox="1"/>
          <p:nvPr/>
        </p:nvSpPr>
        <p:spPr>
          <a:xfrm>
            <a:off x="719455" y="5091430"/>
            <a:ext cx="4724400" cy="149352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chemeClr val="tx1"/>
                </a:solidFill>
                <a:latin typeface="思源黑体 Normal"/>
                <a:ea typeface="思源黑体 Normal"/>
              </a:rPr>
              <a:t>Validating file metadata and pushing ingestion requests to Storage Queue.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719455" y="4721225"/>
            <a:ext cx="4724400" cy="45847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r>
              <a:rPr lang="en-US" sz="2000" b="1" i="0" u="none" baseline="0">
                <a:solidFill>
                  <a:srgbClr val="2787DC"/>
                </a:solidFill>
                <a:latin typeface="思源黑体 Normal"/>
                <a:ea typeface="思源黑体 Normal"/>
              </a:rPr>
              <a:t>Python Function for Ingestion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2229485" y="3233420"/>
            <a:ext cx="4724400" cy="149352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chemeClr val="tx1"/>
                </a:solidFill>
                <a:latin typeface="思源黑体 Normal"/>
                <a:ea typeface="思源黑体 Normal"/>
              </a:rPr>
              <a:t>Enabling Event Grid subscriptions and setting up high-volume Service Bus queues for real-time orchestration.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2133600" y="2591931"/>
            <a:ext cx="4820285" cy="729754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 lnSpcReduction="10000"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r>
              <a:rPr lang="en-US" sz="2000" b="1" i="0" u="none" baseline="0" dirty="0">
                <a:solidFill>
                  <a:srgbClr val="2787DC"/>
                </a:solidFill>
                <a:latin typeface="思源黑体 Normal"/>
                <a:ea typeface="思源黑体 Normal"/>
              </a:rPr>
              <a:t>Azure Event Grid and Service Bus Configuration</a:t>
            </a:r>
            <a:endParaRPr lang="en-US" sz="1100" dirty="0"/>
          </a:p>
        </p:txBody>
      </p:sp>
      <p:sp>
        <p:nvSpPr>
          <p:cNvPr id="22" name="TextBox 22"/>
          <p:cNvSpPr txBox="1"/>
          <p:nvPr/>
        </p:nvSpPr>
        <p:spPr>
          <a:xfrm>
            <a:off x="3917950" y="1432560"/>
            <a:ext cx="4724400" cy="149352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chemeClr val="tx1"/>
                </a:solidFill>
                <a:latin typeface="思源黑体 Normal"/>
                <a:ea typeface="思源黑体 Normal"/>
              </a:rPr>
              <a:t>Creating containers for raw transaction, customer, ATM, and UPI data.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3917950" y="1062355"/>
            <a:ext cx="4724400" cy="45847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r>
              <a:rPr lang="en-US" sz="2000" b="1" i="0" u="none" baseline="0">
                <a:solidFill>
                  <a:srgbClr val="2787DC"/>
                </a:solidFill>
                <a:latin typeface="思源黑体 Normal"/>
                <a:ea typeface="思源黑体 Normal"/>
              </a:rPr>
              <a:t>Azure Data Lake Storage Gen2 (ADLS Gen2)</a:t>
            </a:r>
            <a:endParaRPr lang="en-US" sz="1100"/>
          </a:p>
        </p:txBody>
      </p:sp>
      <p:sp>
        <p:nvSpPr>
          <p:cNvPr id="24" name="Freeform 2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2787DC"/>
          </a:solidFill>
        </p:spPr>
      </p:sp>
      <p:sp>
        <p:nvSpPr>
          <p:cNvPr id="25" name="TextBox 25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2787DC"/>
                </a:solidFill>
                <a:latin typeface="思源黑体 Normal"/>
                <a:ea typeface="思源黑体 Normal"/>
              </a:rPr>
              <a:t>Setup and Deliverables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alphaModFix amt="8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" y="945515"/>
            <a:ext cx="7417435" cy="3452495"/>
            <a:chOff x="180" y="1779"/>
            <a:chExt cx="11681" cy="5437"/>
          </a:xfrm>
        </p:grpSpPr>
        <p:grpSp>
          <p:nvGrpSpPr>
            <p:cNvPr id="3" name="Group 3"/>
            <p:cNvGrpSpPr/>
            <p:nvPr/>
          </p:nvGrpSpPr>
          <p:grpSpPr>
            <a:xfrm>
              <a:off x="320" y="1779"/>
              <a:ext cx="11541" cy="2310"/>
              <a:chOff x="-4958" y="1162"/>
              <a:chExt cx="11541" cy="2310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-4958" y="1162"/>
                <a:ext cx="4488" cy="1193"/>
              </a:xfrm>
              <a:prstGeom prst="roundRect">
                <a:avLst/>
              </a:prstGeom>
              <a:solidFill>
                <a:srgbClr val="2787DC"/>
              </a:solidFill>
            </p:spPr>
            <p:txBody>
              <a:bodyPr vert="horz" lIns="91440" tIns="45720" rIns="91440" bIns="45720" anchor="t"/>
              <a:lstStyle/>
              <a:p>
                <a:pPr marL="0" algn="l"/>
                <a:endParaRPr/>
              </a:p>
            </p:txBody>
          </p:sp>
          <p:grpSp>
            <p:nvGrpSpPr>
              <p:cNvPr id="5" name="Group 5"/>
              <p:cNvGrpSpPr/>
              <p:nvPr/>
            </p:nvGrpSpPr>
            <p:grpSpPr>
              <a:xfrm>
                <a:off x="-4788" y="1202"/>
                <a:ext cx="11371" cy="2270"/>
                <a:chOff x="3191" y="712"/>
                <a:chExt cx="11371" cy="2270"/>
              </a:xfrm>
            </p:grpSpPr>
            <p:sp>
              <p:nvSpPr>
                <p:cNvPr id="6" name="TextBox 6"/>
                <p:cNvSpPr txBox="1"/>
                <p:nvPr/>
              </p:nvSpPr>
              <p:spPr>
                <a:xfrm>
                  <a:off x="3191" y="712"/>
                  <a:ext cx="4521" cy="1113"/>
                </a:xfrm>
                <a:prstGeom prst="rect">
                  <a:avLst/>
                </a:prstGeom>
                <a:noFill/>
              </p:spPr>
              <p:txBody>
                <a:bodyPr vert="horz" wrap="square" lIns="91440" tIns="45720" rIns="91440" bIns="45720" rtlCol="0" anchor="ctr">
                  <a:noAutofit/>
                </a:bodyPr>
                <a:lstStyle/>
                <a:p>
                  <a:pPr marL="0" algn="l">
                    <a:defRPr/>
                  </a:pPr>
                  <a:r>
                    <a:rPr lang="en-US" sz="4000" b="1" i="0" u="none" baseline="0" dirty="0">
                      <a:solidFill>
                        <a:schemeClr val="bg1"/>
                      </a:solidFill>
                      <a:latin typeface="思源黑体 Normal"/>
                      <a:ea typeface="思源黑体 Normal"/>
                    </a:rPr>
                    <a:t>PART  02</a:t>
                  </a:r>
                  <a:endParaRPr lang="en-US" sz="1100" dirty="0"/>
                </a:p>
              </p:txBody>
            </p:sp>
            <p:sp>
              <p:nvSpPr>
                <p:cNvPr id="7" name="AutoShape 7"/>
                <p:cNvSpPr/>
                <p:nvPr/>
              </p:nvSpPr>
              <p:spPr>
                <a:xfrm>
                  <a:off x="10041" y="1862"/>
                  <a:ext cx="4521" cy="1120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txBody>
                <a:bodyPr vert="horz" lIns="91440" tIns="45720" rIns="91440" bIns="45720" anchor="ctr"/>
                <a:lstStyle/>
                <a:p>
                  <a:pPr marL="0" algn="l"/>
                  <a:endParaRPr/>
                </a:p>
              </p:txBody>
            </p:sp>
          </p:grpSp>
        </p:grpSp>
        <p:sp>
          <p:nvSpPr>
            <p:cNvPr id="8" name="TextBox 8"/>
            <p:cNvSpPr txBox="1"/>
            <p:nvPr/>
          </p:nvSpPr>
          <p:spPr>
            <a:xfrm>
              <a:off x="180" y="3926"/>
              <a:ext cx="11601" cy="329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5400" b="0" i="0" u="none" baseline="0">
                  <a:solidFill>
                    <a:schemeClr val="tx1">
                      <a:lumMod val="90000"/>
                      <a:lumOff val="10000"/>
                    </a:schemeClr>
                  </a:solidFill>
                  <a:latin typeface="思源黑体 Medium"/>
                  <a:ea typeface="思源黑体 Medium"/>
                </a:rPr>
                <a:t>Day 2: Transformation Layer &amp; NoSQL Operational Store</a:t>
              </a:r>
              <a:endParaRPr lang="en-US" sz="110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" y="1339670"/>
            <a:ext cx="6395640" cy="3183435"/>
            <a:chOff x="784951" y="2408193"/>
            <a:chExt cx="6395640" cy="3183435"/>
          </a:xfrm>
        </p:grpSpPr>
        <p:grpSp>
          <p:nvGrpSpPr>
            <p:cNvPr id="3" name="Group 3"/>
            <p:cNvGrpSpPr/>
            <p:nvPr/>
          </p:nvGrpSpPr>
          <p:grpSpPr>
            <a:xfrm>
              <a:off x="784951" y="2408193"/>
              <a:ext cx="595086" cy="3167560"/>
              <a:chOff x="784951" y="2408193"/>
              <a:chExt cx="595086" cy="3167560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784951" y="2408193"/>
                <a:ext cx="595086" cy="720090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/>
              </a:gradFill>
              <a:ln>
                <a:noFill/>
              </a:ln>
            </p:spPr>
            <p:txBody>
              <a:bodyPr vert="horz" wrap="square" lIns="90170" tIns="46990" rIns="90170" bIns="46990" anchor="ctr">
                <a:normAutofit/>
              </a:bodyPr>
              <a:lstStyle/>
              <a:p>
                <a:pPr marL="0" algn="ctr"/>
                <a:r>
                  <a:rPr lang="en-US" sz="1439" b="1" i="0" u="none" baseline="0" dirty="0">
                    <a:solidFill>
                      <a:schemeClr val="lt1"/>
                    </a:solidFill>
                    <a:latin typeface="思源黑体 Medium"/>
                    <a:ea typeface="思源黑体 Medium"/>
                  </a:rPr>
                  <a:t>01</a:t>
                </a:r>
              </a:p>
            </p:txBody>
          </p:sp>
          <p:cxnSp>
            <p:nvCxnSpPr>
              <p:cNvPr id="5" name="Connector 5"/>
              <p:cNvCxnSpPr/>
              <p:nvPr/>
            </p:nvCxnSpPr>
            <p:spPr>
              <a:xfrm>
                <a:off x="1081972" y="3128283"/>
                <a:ext cx="0" cy="2370817"/>
              </a:xfrm>
              <a:prstGeom prst="line">
                <a:avLst/>
              </a:prstGeom>
              <a:ln w="6350" cap="flat" cmpd="sng">
                <a:solidFill>
                  <a:schemeClr val="accent1"/>
                </a:solidFill>
                <a:prstDash val="solid"/>
              </a:ln>
            </p:spPr>
          </p:cxnSp>
          <p:sp>
            <p:nvSpPr>
              <p:cNvPr id="6" name="AutoShape 6"/>
              <p:cNvSpPr/>
              <p:nvPr/>
            </p:nvSpPr>
            <p:spPr>
              <a:xfrm>
                <a:off x="1029246" y="5483227"/>
                <a:ext cx="92526" cy="9252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0170" tIns="46990" rIns="90170" bIns="4699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6585505" y="2533197"/>
              <a:ext cx="595086" cy="3058431"/>
              <a:chOff x="6585505" y="2533197"/>
              <a:chExt cx="595086" cy="3058431"/>
            </a:xfrm>
          </p:grpSpPr>
          <p:sp>
            <p:nvSpPr>
              <p:cNvPr id="8" name="AutoShape 8"/>
              <p:cNvSpPr/>
              <p:nvPr/>
            </p:nvSpPr>
            <p:spPr>
              <a:xfrm>
                <a:off x="6585505" y="2533197"/>
                <a:ext cx="595086" cy="595086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50000">
                    <a:schemeClr val="accent2"/>
                  </a:gs>
                </a:gsLst>
                <a:lin ang="2700000"/>
              </a:gradFill>
              <a:ln>
                <a:noFill/>
              </a:ln>
            </p:spPr>
            <p:txBody>
              <a:bodyPr vert="horz" wrap="square" lIns="90170" tIns="46990" rIns="90170" bIns="46990" anchor="ctr">
                <a:normAutofit/>
              </a:bodyPr>
              <a:lstStyle/>
              <a:p>
                <a:pPr marL="0" algn="ctr"/>
                <a:r>
                  <a:rPr lang="en-US" sz="1439" b="1" i="0" u="none" baseline="0">
                    <a:solidFill>
                      <a:schemeClr val="lt1"/>
                    </a:solidFill>
                    <a:latin typeface="思源黑体 Medium"/>
                    <a:ea typeface="思源黑体 Medium"/>
                  </a:rPr>
                  <a:t>02</a:t>
                </a:r>
              </a:p>
            </p:txBody>
          </p:sp>
          <p:cxnSp>
            <p:nvCxnSpPr>
              <p:cNvPr id="9" name="Connector 9"/>
              <p:cNvCxnSpPr/>
              <p:nvPr/>
            </p:nvCxnSpPr>
            <p:spPr>
              <a:xfrm>
                <a:off x="6883048" y="3128283"/>
                <a:ext cx="0" cy="2370817"/>
              </a:xfrm>
              <a:prstGeom prst="line">
                <a:avLst/>
              </a:prstGeom>
              <a:ln w="9525">
                <a:solidFill>
                  <a:schemeClr val="accent2"/>
                </a:solidFill>
              </a:ln>
            </p:spPr>
          </p:cxnSp>
          <p:sp>
            <p:nvSpPr>
              <p:cNvPr id="10" name="AutoShape 10"/>
              <p:cNvSpPr/>
              <p:nvPr/>
            </p:nvSpPr>
            <p:spPr>
              <a:xfrm>
                <a:off x="6837591" y="5499102"/>
                <a:ext cx="92526" cy="925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0170" tIns="46990" rIns="90170" bIns="46990" anchor="ctr">
                <a:normAutofit fontScale="25000" lnSpcReduction="20000"/>
              </a:bodyPr>
              <a:lstStyle/>
              <a:p>
                <a:pPr marL="0" algn="ctr"/>
                <a:endParaRPr/>
              </a:p>
            </p:txBody>
          </p:sp>
        </p:grpSp>
      </p:grpSp>
      <p:sp>
        <p:nvSpPr>
          <p:cNvPr id="11" name="TextBox 11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 dirty="0">
                <a:ln/>
                <a:solidFill>
                  <a:srgbClr val="2787DC"/>
                </a:solidFill>
                <a:latin typeface="思源黑体 Normal"/>
                <a:ea typeface="思源黑体 Normal"/>
              </a:rPr>
              <a:t>Queue-Triggered Azure Functions</a:t>
            </a:r>
            <a:endParaRPr lang="en-US" sz="1100" dirty="0"/>
          </a:p>
        </p:txBody>
      </p:sp>
      <p:sp>
        <p:nvSpPr>
          <p:cNvPr id="12" name="Freeform 12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2787DC"/>
          </a:solidFill>
        </p:spPr>
      </p:sp>
      <p:sp>
        <p:nvSpPr>
          <p:cNvPr id="13" name="TextBox 13"/>
          <p:cNvSpPr txBox="1"/>
          <p:nvPr/>
        </p:nvSpPr>
        <p:spPr>
          <a:xfrm>
            <a:off x="1023082" y="754268"/>
            <a:ext cx="4867551" cy="2370817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defRPr/>
            </a:pPr>
            <a:r>
              <a:rPr lang="en-US" sz="2000" b="1" i="0" u="none" baseline="0" dirty="0">
                <a:solidFill>
                  <a:srgbClr val="2787DC"/>
                </a:solidFill>
                <a:latin typeface="思源黑体 Normal"/>
                <a:ea typeface="思源黑体 Normal"/>
              </a:rPr>
              <a:t>Data Validation and Transformation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93652" y="2286000"/>
            <a:ext cx="5028268" cy="33528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Autofit/>
          </a:bodyPr>
          <a:lstStyle/>
          <a:p>
            <a:pPr marL="285750" indent="-285750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incoming raw banking data</a:t>
            </a:r>
          </a:p>
          <a:p>
            <a:pPr marL="285750" indent="-285750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standardize records</a:t>
            </a:r>
          </a:p>
          <a:p>
            <a:pPr marL="285750" indent="-285750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 data for analytics</a:t>
            </a:r>
          </a:p>
          <a:p>
            <a:pPr marL="285750" indent="-285750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suspicious or abnormal transaction patterns</a:t>
            </a:r>
          </a:p>
          <a:p>
            <a:pPr marL="285750" indent="-285750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validated separate layers</a:t>
            </a:r>
          </a:p>
          <a:p>
            <a:pPr marL="0" indent="0" algn="just" fontAlgn="auto">
              <a:lnSpc>
                <a:spcPct val="150000"/>
              </a:lnSpc>
              <a:defRPr/>
            </a:pPr>
            <a:endParaRPr lang="en-US" sz="1600" b="0" i="0" u="none" baseline="0" dirty="0">
              <a:solidFill>
                <a:schemeClr val="tx1"/>
              </a:solidFill>
              <a:latin typeface="Times New Roman" panose="02020603050405020304" pitchFamily="18" charset="0"/>
              <a:ea typeface="思源黑体 Normal"/>
              <a:cs typeface="Times New Roman" panose="02020603050405020304" pitchFamily="18" charset="0"/>
            </a:endParaRPr>
          </a:p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600" b="0" i="0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思源黑体 Normal"/>
                <a:cs typeface="Times New Roman" panose="02020603050405020304" pitchFamily="18" charset="0"/>
              </a:rPr>
              <a:t>Loading file content, validating schema, deduplicating transactions, and classifying transaction types.</a:t>
            </a:r>
          </a:p>
          <a:p>
            <a:pPr marL="0" indent="0" algn="just" fontAlgn="auto">
              <a:lnSpc>
                <a:spcPct val="150000"/>
              </a:lnSpc>
              <a:defRPr/>
            </a:pPr>
            <a:endParaRPr lang="en-US" sz="1600" dirty="0"/>
          </a:p>
        </p:txBody>
      </p:sp>
      <p:sp>
        <p:nvSpPr>
          <p:cNvPr id="15" name="TextBox 15"/>
          <p:cNvSpPr txBox="1"/>
          <p:nvPr/>
        </p:nvSpPr>
        <p:spPr>
          <a:xfrm>
            <a:off x="6889951" y="838200"/>
            <a:ext cx="4840404" cy="2286885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defRPr/>
            </a:pPr>
            <a:r>
              <a:rPr lang="en-US" sz="2000" b="1" i="0" u="none" baseline="0" dirty="0">
                <a:solidFill>
                  <a:srgbClr val="2787DC"/>
                </a:solidFill>
                <a:latin typeface="思源黑体 Normal"/>
                <a:ea typeface="思源黑体 Normal"/>
              </a:rPr>
              <a:t>Suspicious Pattern Detection</a:t>
            </a:r>
            <a:endParaRPr lang="en-US" sz="2000" dirty="0"/>
          </a:p>
        </p:txBody>
      </p:sp>
      <p:sp>
        <p:nvSpPr>
          <p:cNvPr id="16" name="TextBox 16"/>
          <p:cNvSpPr txBox="1"/>
          <p:nvPr/>
        </p:nvSpPr>
        <p:spPr>
          <a:xfrm>
            <a:off x="6916989" y="2575946"/>
            <a:ext cx="4744069" cy="2370817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600" b="0" i="0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思源黑体 Normal"/>
                <a:cs typeface="Times New Roman" panose="02020603050405020304" pitchFamily="18" charset="0"/>
              </a:rPr>
              <a:t>Implementing rule-based detection for rapid multiple withdrawals and other anomalies.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potential fraud activities using rule-based checks.</a:t>
            </a:r>
          </a:p>
        </p:txBody>
      </p:sp>
    </p:spTree>
  </p:cSld>
  <p:clrMapOvr>
    <a:masterClrMapping/>
  </p:clrMapOvr>
  <p:transition advClick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5165" y="1831975"/>
            <a:ext cx="5594985" cy="1980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600" b="0" i="0" u="none" baseline="0" dirty="0" err="1">
                <a:solidFill>
                  <a:schemeClr val="tx1"/>
                </a:solidFill>
                <a:latin typeface="Times New Roman" panose="02020603050405020304" pitchFamily="18" charset="0"/>
                <a:ea typeface="思源黑体 Normal"/>
                <a:cs typeface="Times New Roman" panose="02020603050405020304" pitchFamily="18" charset="0"/>
              </a:rPr>
              <a:t>AccountProfile</a:t>
            </a:r>
            <a:r>
              <a:rPr lang="en-US" sz="1600" b="0" i="0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思源黑体 Normal"/>
                <a:cs typeface="Times New Roman" panose="02020603050405020304" pitchFamily="18" charset="0"/>
              </a:rPr>
              <a:t>, </a:t>
            </a:r>
            <a:r>
              <a:rPr lang="en-US" sz="1600" b="0" i="0" u="none" baseline="0" dirty="0" err="1">
                <a:solidFill>
                  <a:schemeClr val="tx1"/>
                </a:solidFill>
                <a:latin typeface="Times New Roman" panose="02020603050405020304" pitchFamily="18" charset="0"/>
                <a:ea typeface="思源黑体 Normal"/>
                <a:cs typeface="Times New Roman" panose="02020603050405020304" pitchFamily="18" charset="0"/>
              </a:rPr>
              <a:t>ATMTransactions</a:t>
            </a:r>
            <a:r>
              <a:rPr lang="en-US" sz="1600" b="0" i="0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思源黑体 Normal"/>
                <a:cs typeface="Times New Roman" panose="02020603050405020304" pitchFamily="18" charset="0"/>
              </a:rPr>
              <a:t>, </a:t>
            </a:r>
            <a:r>
              <a:rPr lang="en-US" sz="1600" b="0" i="0" u="none" baseline="0" dirty="0" err="1">
                <a:solidFill>
                  <a:schemeClr val="tx1"/>
                </a:solidFill>
                <a:latin typeface="Times New Roman" panose="02020603050405020304" pitchFamily="18" charset="0"/>
                <a:ea typeface="思源黑体 Normal"/>
                <a:cs typeface="Times New Roman" panose="02020603050405020304" pitchFamily="18" charset="0"/>
              </a:rPr>
              <a:t>UPIEvents</a:t>
            </a:r>
            <a:r>
              <a:rPr lang="en-US" sz="1600" b="0" i="0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思源黑体 Normal"/>
                <a:cs typeface="Times New Roman" panose="02020603050405020304" pitchFamily="18" charset="0"/>
              </a:rPr>
              <a:t>, and </a:t>
            </a:r>
            <a:r>
              <a:rPr lang="en-US" sz="1600" b="0" i="0" u="none" baseline="0" dirty="0" err="1">
                <a:solidFill>
                  <a:schemeClr val="tx1"/>
                </a:solidFill>
                <a:latin typeface="Times New Roman" panose="02020603050405020304" pitchFamily="18" charset="0"/>
                <a:ea typeface="思源黑体 Normal"/>
                <a:cs typeface="Times New Roman" panose="02020603050405020304" pitchFamily="18" charset="0"/>
              </a:rPr>
              <a:t>FraudAlerts</a:t>
            </a:r>
            <a:r>
              <a:rPr lang="en-US" sz="1600" b="0" i="0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思源黑体 Normal"/>
                <a:cs typeface="Times New Roman" panose="02020603050405020304" pitchFamily="18" charset="0"/>
              </a:rPr>
              <a:t> collections for low-latency lookups.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85165" y="1292225"/>
            <a:ext cx="5594985" cy="5397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2787DC"/>
                </a:solidFill>
                <a:latin typeface="思源黑体 Normal"/>
                <a:ea typeface="思源黑体 Normal"/>
              </a:rPr>
              <a:t>Collection Design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781050" y="3200400"/>
            <a:ext cx="5499100" cy="329826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600" b="0" i="0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思源黑体 Normal"/>
                <a:cs typeface="Times New Roman" panose="02020603050405020304" pitchFamily="18" charset="0"/>
              </a:rPr>
              <a:t>Using </a:t>
            </a:r>
            <a:r>
              <a:rPr lang="en-US" sz="1600" b="0" i="0" u="none" baseline="0" dirty="0" err="1">
                <a:solidFill>
                  <a:schemeClr val="tx1"/>
                </a:solidFill>
                <a:latin typeface="Times New Roman" panose="02020603050405020304" pitchFamily="18" charset="0"/>
                <a:ea typeface="思源黑体 Normal"/>
                <a:cs typeface="Times New Roman" panose="02020603050405020304" pitchFamily="18" charset="0"/>
              </a:rPr>
              <a:t>CustomerID</a:t>
            </a:r>
            <a:r>
              <a:rPr lang="en-US" sz="1600" b="0" i="0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思源黑体 Normal"/>
                <a:cs typeface="Times New Roman" panose="02020603050405020304" pitchFamily="18" charset="0"/>
              </a:rPr>
              <a:t> for </a:t>
            </a:r>
            <a:r>
              <a:rPr lang="en-US" sz="1600" b="0" i="0" u="none" baseline="0" dirty="0" err="1">
                <a:solidFill>
                  <a:schemeClr val="tx1"/>
                </a:solidFill>
                <a:latin typeface="Times New Roman" panose="02020603050405020304" pitchFamily="18" charset="0"/>
                <a:ea typeface="思源黑体 Normal"/>
                <a:cs typeface="Times New Roman" panose="02020603050405020304" pitchFamily="18" charset="0"/>
              </a:rPr>
              <a:t>AccountProfile</a:t>
            </a:r>
            <a:r>
              <a:rPr lang="en-US" sz="1600" b="0" i="0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思源黑体 Normal"/>
                <a:cs typeface="Times New Roman" panose="02020603050405020304" pitchFamily="18" charset="0"/>
              </a:rPr>
              <a:t> and </a:t>
            </a:r>
            <a:r>
              <a:rPr lang="en-US" sz="1600" b="0" i="0" u="none" baseline="0" dirty="0" err="1">
                <a:solidFill>
                  <a:schemeClr val="tx1"/>
                </a:solidFill>
                <a:latin typeface="Times New Roman" panose="02020603050405020304" pitchFamily="18" charset="0"/>
                <a:ea typeface="思源黑体 Normal"/>
                <a:cs typeface="Times New Roman" panose="02020603050405020304" pitchFamily="18" charset="0"/>
              </a:rPr>
              <a:t>TransactionID</a:t>
            </a:r>
            <a:r>
              <a:rPr lang="en-US" sz="1600" b="0" i="0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思源黑体 Normal"/>
                <a:cs typeface="Times New Roman" panose="02020603050405020304" pitchFamily="18" charset="0"/>
              </a:rPr>
              <a:t> for event collections for efficient querying.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Cosmos DB collections and partition 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 Name: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bank_ops_db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keys:AccountProfile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partition key: /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CustomerID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ATMTransactions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partition key: /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TransactionID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UPIEvents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partition key: /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TransactionID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FraudAlerts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partition key: /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AccountNumber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85165" y="2590801"/>
            <a:ext cx="5594985" cy="6858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 dirty="0">
                <a:solidFill>
                  <a:srgbClr val="2787DC"/>
                </a:solidFill>
                <a:latin typeface="思源黑体 Normal"/>
                <a:ea typeface="思源黑体 Normal"/>
              </a:rPr>
              <a:t>Partition Key Strategy</a:t>
            </a:r>
            <a:endParaRPr lang="en-US" sz="1100" dirty="0"/>
          </a:p>
        </p:txBody>
      </p:sp>
      <p:sp>
        <p:nvSpPr>
          <p:cNvPr id="7" name="Freeform 7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2787DC"/>
          </a:solidFill>
        </p:spPr>
      </p:sp>
      <p:sp>
        <p:nvSpPr>
          <p:cNvPr id="8" name="TextBox 8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2787DC"/>
                </a:solidFill>
                <a:latin typeface="思源黑体 Normal"/>
                <a:ea typeface="思源黑体 Normal"/>
              </a:rPr>
              <a:t>Operational Data Store (Cosmos DB)</a:t>
            </a:r>
            <a:endParaRPr lang="en-US" sz="11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23A984-2204-484E-D9B1-AE0CCB703CE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914400"/>
            <a:ext cx="4876800" cy="381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2787DC"/>
                </a:solidFill>
                <a:latin typeface="思源黑体 Normal"/>
                <a:ea typeface="思源黑体 Normal"/>
              </a:rPr>
              <a:t>PySpark Data Clean Pipeline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2787DC"/>
          </a:solidFill>
        </p:spPr>
      </p:sp>
      <p:grpSp>
        <p:nvGrpSpPr>
          <p:cNvPr id="5" name="Group 5"/>
          <p:cNvGrpSpPr/>
          <p:nvPr/>
        </p:nvGrpSpPr>
        <p:grpSpPr>
          <a:xfrm>
            <a:off x="714516" y="762140"/>
            <a:ext cx="6047599" cy="5562176"/>
            <a:chOff x="1171" y="1639"/>
            <a:chExt cx="9478" cy="8266"/>
          </a:xfrm>
        </p:grpSpPr>
        <p:grpSp>
          <p:nvGrpSpPr>
            <p:cNvPr id="6" name="Group 6"/>
            <p:cNvGrpSpPr/>
            <p:nvPr/>
          </p:nvGrpSpPr>
          <p:grpSpPr>
            <a:xfrm>
              <a:off x="1275" y="3713"/>
              <a:ext cx="9328" cy="6192"/>
              <a:chOff x="1275" y="3713"/>
              <a:chExt cx="9328" cy="6192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1275" y="4583"/>
                <a:ext cx="9328" cy="5322"/>
              </a:xfrm>
              <a:prstGeom prst="rect">
                <a:avLst/>
              </a:prstGeom>
            </p:spPr>
            <p:txBody>
              <a:bodyPr vert="horz" wrap="square" lIns="90170" tIns="46990" rIns="90170" bIns="46990" rtlCol="0" anchor="t">
                <a:normAutofit lnSpcReduction="10000"/>
              </a:bodyPr>
              <a:lstStyle/>
              <a:p>
                <a:pPr marL="0" indent="0" algn="just" fontAlgn="auto">
                  <a:lnSpc>
                    <a:spcPct val="150000"/>
                  </a:lnSpc>
                  <a:defRPr/>
                </a:pPr>
                <a:r>
                  <a:rPr lang="en-US" sz="1600" b="0" i="0" u="none" baseline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思源黑体 Normal"/>
                    <a:cs typeface="Times New Roman" panose="02020603050405020304" pitchFamily="18" charset="0"/>
                  </a:rPr>
                  <a:t>Consolidating ATM and UPI streams into Fact Transactions, writing to Bronze, Silver, and Gold delta lake layers.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Layers Created: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Bronze Layer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Raw data (original files)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Silver Layer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Cleaned &amp; validated data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Gold Layer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Aggregated &amp; analytics-ready data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Purpose: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Improves organization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Supports incremental processing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Enables clean auditing of each stage</a:t>
                </a:r>
              </a:p>
              <a:p>
                <a:pPr marL="0" indent="0" algn="just" fontAlgn="auto">
                  <a:lnSpc>
                    <a:spcPct val="150000"/>
                  </a:lnSpc>
                  <a:defRPr/>
                </a:pPr>
                <a:endParaRPr lang="en-US" sz="1100" dirty="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275" y="3713"/>
                <a:ext cx="9328" cy="1097"/>
              </a:xfrm>
              <a:prstGeom prst="rect">
                <a:avLst/>
              </a:prstGeom>
              <a:noFill/>
            </p:spPr>
            <p:txBody>
              <a:bodyPr vert="horz" wrap="square" lIns="90170" tIns="46990" rIns="90170" bIns="46990" rtlCol="0" anchor="ctr">
                <a:normAutofit/>
              </a:bodyPr>
              <a:lstStyle/>
              <a:p>
                <a:pPr marL="0" indent="0" algn="l" fontAlgn="auto">
                  <a:lnSpc>
                    <a:spcPct val="100000"/>
                  </a:lnSpc>
                  <a:defRPr/>
                </a:pPr>
                <a:r>
                  <a:rPr lang="en-US" sz="2000" b="1" i="0" u="none" baseline="0" dirty="0">
                    <a:solidFill>
                      <a:srgbClr val="2787DC"/>
                    </a:solidFill>
                    <a:latin typeface="思源黑体 Normal"/>
                    <a:ea typeface="思源黑体 Normal"/>
                  </a:rPr>
                  <a:t>Merging and Storage Layers</a:t>
                </a:r>
                <a:endParaRPr lang="en-US" sz="1100" dirty="0"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171" y="2709"/>
              <a:ext cx="9478" cy="3181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500" b="0" i="0" u="none" baseline="0" dirty="0">
                  <a:solidFill>
                    <a:schemeClr val="tx1"/>
                  </a:solidFill>
                  <a:latin typeface="思源黑体 Normal"/>
                  <a:ea typeface="思源黑体 Normal"/>
                </a:rPr>
                <a:t>Reading raw data from Cosmos DB and batch files in ADLS, cleansing, and normalizing columns.</a:t>
              </a:r>
              <a:endParaRPr lang="en-US" sz="1100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75" y="1639"/>
              <a:ext cx="9374" cy="1416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00000"/>
                </a:lnSpc>
                <a:defRPr/>
              </a:pPr>
              <a:r>
                <a:rPr lang="en-US" sz="2000" b="1" i="0" u="none" baseline="0" dirty="0">
                  <a:solidFill>
                    <a:srgbClr val="2787DC"/>
                  </a:solidFill>
                  <a:latin typeface="思源黑体 Normal"/>
                  <a:ea typeface="思源黑体 Normal"/>
                </a:rPr>
                <a:t>Ingestion and Normalization</a:t>
              </a:r>
              <a:endParaRPr lang="en-US" sz="1100" dirty="0"/>
            </a:p>
          </p:txBody>
        </p:sp>
      </p:grpSp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alphaModFix amt="8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" y="945515"/>
            <a:ext cx="7417435" cy="3452495"/>
            <a:chOff x="180" y="1779"/>
            <a:chExt cx="11681" cy="5437"/>
          </a:xfrm>
        </p:grpSpPr>
        <p:grpSp>
          <p:nvGrpSpPr>
            <p:cNvPr id="3" name="Group 3"/>
            <p:cNvGrpSpPr/>
            <p:nvPr/>
          </p:nvGrpSpPr>
          <p:grpSpPr>
            <a:xfrm>
              <a:off x="320" y="1779"/>
              <a:ext cx="11541" cy="2310"/>
              <a:chOff x="-4958" y="1162"/>
              <a:chExt cx="11541" cy="2310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-4958" y="1162"/>
                <a:ext cx="4488" cy="1193"/>
              </a:xfrm>
              <a:prstGeom prst="roundRect">
                <a:avLst/>
              </a:prstGeom>
              <a:solidFill>
                <a:srgbClr val="2787DC"/>
              </a:solidFill>
            </p:spPr>
            <p:txBody>
              <a:bodyPr vert="horz" lIns="91440" tIns="45720" rIns="91440" bIns="45720" anchor="t"/>
              <a:lstStyle/>
              <a:p>
                <a:pPr marL="0" algn="l"/>
                <a:endParaRPr/>
              </a:p>
            </p:txBody>
          </p:sp>
          <p:grpSp>
            <p:nvGrpSpPr>
              <p:cNvPr id="5" name="Group 5"/>
              <p:cNvGrpSpPr/>
              <p:nvPr/>
            </p:nvGrpSpPr>
            <p:grpSpPr>
              <a:xfrm>
                <a:off x="-4788" y="1202"/>
                <a:ext cx="11371" cy="2270"/>
                <a:chOff x="3191" y="712"/>
                <a:chExt cx="11371" cy="2270"/>
              </a:xfrm>
            </p:grpSpPr>
            <p:sp>
              <p:nvSpPr>
                <p:cNvPr id="6" name="TextBox 6"/>
                <p:cNvSpPr txBox="1"/>
                <p:nvPr/>
              </p:nvSpPr>
              <p:spPr>
                <a:xfrm>
                  <a:off x="3191" y="712"/>
                  <a:ext cx="4521" cy="1113"/>
                </a:xfrm>
                <a:prstGeom prst="rect">
                  <a:avLst/>
                </a:prstGeom>
                <a:noFill/>
              </p:spPr>
              <p:txBody>
                <a:bodyPr vert="horz" wrap="square" lIns="91440" tIns="45720" rIns="91440" bIns="45720" rtlCol="0" anchor="ctr">
                  <a:noAutofit/>
                </a:bodyPr>
                <a:lstStyle/>
                <a:p>
                  <a:pPr marL="0" algn="l">
                    <a:defRPr/>
                  </a:pPr>
                  <a:r>
                    <a:rPr lang="en-US" sz="4000" b="1" i="0" u="none" baseline="0">
                      <a:solidFill>
                        <a:schemeClr val="bg1"/>
                      </a:solidFill>
                      <a:latin typeface="思源黑体 Normal"/>
                      <a:ea typeface="思源黑体 Normal"/>
                    </a:rPr>
                    <a:t>PART  04</a:t>
                  </a:r>
                  <a:endParaRPr lang="en-US" sz="1100"/>
                </a:p>
              </p:txBody>
            </p:sp>
            <p:sp>
              <p:nvSpPr>
                <p:cNvPr id="7" name="AutoShape 7"/>
                <p:cNvSpPr/>
                <p:nvPr/>
              </p:nvSpPr>
              <p:spPr>
                <a:xfrm>
                  <a:off x="10041" y="1862"/>
                  <a:ext cx="4521" cy="1120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txBody>
                <a:bodyPr vert="horz" lIns="91440" tIns="45720" rIns="91440" bIns="45720" anchor="ctr"/>
                <a:lstStyle/>
                <a:p>
                  <a:pPr marL="0" algn="l"/>
                  <a:endParaRPr/>
                </a:p>
              </p:txBody>
            </p:sp>
          </p:grpSp>
        </p:grpSp>
        <p:sp>
          <p:nvSpPr>
            <p:cNvPr id="8" name="TextBox 8"/>
            <p:cNvSpPr txBox="1"/>
            <p:nvPr/>
          </p:nvSpPr>
          <p:spPr>
            <a:xfrm>
              <a:off x="180" y="3926"/>
              <a:ext cx="11601" cy="329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5400" b="0" i="0" u="none" baseline="0">
                  <a:solidFill>
                    <a:schemeClr val="tx1">
                      <a:lumMod val="90000"/>
                      <a:lumOff val="10000"/>
                    </a:schemeClr>
                  </a:solidFill>
                  <a:latin typeface="思源黑体 Medium"/>
                  <a:ea typeface="思源黑体 Medium"/>
                </a:rPr>
                <a:t>Day 3: Data Warehouse (Azure SQL / Synapse SQL Pool)</a:t>
              </a:r>
              <a:endParaRPr lang="en-US" sz="110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1371600" y="1087120"/>
            <a:ext cx="9677400" cy="1728000"/>
          </a:xfrm>
          <a:prstGeom prst="roundRect">
            <a:avLst>
              <a:gd name="adj" fmla="val 10263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351655" y="1555197"/>
            <a:ext cx="791210" cy="791845"/>
          </a:xfrm>
          <a:prstGeom prst="ellipse">
            <a:avLst/>
          </a:prstGeom>
          <a:solidFill>
            <a:srgbClr val="2787DC"/>
          </a:solidFill>
          <a:ln>
            <a:noFill/>
          </a:ln>
          <a:effectLst/>
        </p:spPr>
        <p:txBody>
          <a:bodyPr vert="horz" wrap="none" lIns="0" tIns="0" rIns="0" bIns="0" anchor="ctr">
            <a:no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000" b="1" i="0" u="none" baseline="0">
                <a:solidFill>
                  <a:schemeClr val="lt1"/>
                </a:solidFill>
                <a:latin typeface="思源黑体 Medium"/>
                <a:ea typeface="思源黑体 Medium"/>
              </a:rPr>
              <a:t>01</a:t>
            </a:r>
          </a:p>
        </p:txBody>
      </p:sp>
      <p:sp>
        <p:nvSpPr>
          <p:cNvPr id="6" name="AutoShape 6"/>
          <p:cNvSpPr/>
          <p:nvPr/>
        </p:nvSpPr>
        <p:spPr>
          <a:xfrm>
            <a:off x="2438400" y="2964181"/>
            <a:ext cx="9148365" cy="1728000"/>
          </a:xfrm>
          <a:prstGeom prst="roundRect">
            <a:avLst>
              <a:gd name="adj" fmla="val 10263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351085" y="3432181"/>
            <a:ext cx="792000" cy="792000"/>
          </a:xfrm>
          <a:prstGeom prst="ellipse">
            <a:avLst/>
          </a:prstGeom>
          <a:solidFill>
            <a:srgbClr val="2787DC"/>
          </a:solidFill>
          <a:ln>
            <a:noFill/>
          </a:ln>
          <a:effectLst/>
        </p:spPr>
        <p:txBody>
          <a:bodyPr vert="horz" wrap="none" lIns="0" tIns="0" rIns="0" bIns="0" anchor="ctr">
            <a:no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000" b="1" i="0" u="none" baseline="0">
                <a:solidFill>
                  <a:schemeClr val="lt1"/>
                </a:solidFill>
                <a:latin typeface="思源黑体 Medium"/>
                <a:ea typeface="思源黑体 Medium"/>
              </a:rPr>
              <a:t>02</a:t>
            </a:r>
          </a:p>
        </p:txBody>
      </p:sp>
      <p:sp>
        <p:nvSpPr>
          <p:cNvPr id="8" name="AutoShape 8"/>
          <p:cNvSpPr/>
          <p:nvPr/>
        </p:nvSpPr>
        <p:spPr>
          <a:xfrm>
            <a:off x="3886200" y="4840923"/>
            <a:ext cx="7700565" cy="1728000"/>
          </a:xfrm>
          <a:prstGeom prst="roundRect">
            <a:avLst>
              <a:gd name="adj" fmla="val 10263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351085" y="5308923"/>
            <a:ext cx="792000" cy="792000"/>
          </a:xfrm>
          <a:prstGeom prst="ellipse">
            <a:avLst/>
          </a:prstGeom>
          <a:solidFill>
            <a:srgbClr val="2787DC"/>
          </a:solidFill>
          <a:ln>
            <a:noFill/>
          </a:ln>
          <a:effectLst/>
        </p:spPr>
        <p:txBody>
          <a:bodyPr vert="horz" wrap="none" lIns="0" tIns="0" rIns="0" bIns="0" anchor="ctr">
            <a:no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000" b="1" i="0" u="none" baseline="0">
                <a:solidFill>
                  <a:schemeClr val="lt1"/>
                </a:solidFill>
                <a:latin typeface="思源黑体 Medium"/>
                <a:ea typeface="思源黑体 Medium"/>
              </a:rPr>
              <a:t>03</a:t>
            </a:r>
          </a:p>
        </p:txBody>
      </p:sp>
      <p:sp>
        <p:nvSpPr>
          <p:cNvPr id="10" name="Freeform 10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2787DC"/>
          </a:solidFill>
        </p:spPr>
      </p:sp>
      <p:sp>
        <p:nvSpPr>
          <p:cNvPr id="11" name="TextBox 11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2787DC"/>
                </a:solidFill>
                <a:latin typeface="思源黑体 Normal"/>
                <a:ea typeface="思源黑体 Normal"/>
              </a:rPr>
              <a:t>PySpark ETL Jobs for Data Warehouse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5277485" y="1565910"/>
            <a:ext cx="6120130" cy="12465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30000"/>
              </a:lnSpc>
              <a:defRPr/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Loading refined data from the Silver layer and applying business logic for dimension and fact table population.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5277485" y="1095375"/>
            <a:ext cx="6120130" cy="59563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90000"/>
              </a:lnSpc>
              <a:defRPr/>
            </a:pPr>
            <a:r>
              <a:rPr lang="en-US" sz="2000" b="1" i="0" u="none" baseline="0">
                <a:solidFill>
                  <a:srgbClr val="2787DC"/>
                </a:solidFill>
                <a:latin typeface="思源黑体 Normal"/>
                <a:ea typeface="思源黑体 Normal"/>
              </a:rPr>
              <a:t>Load Logic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5277485" y="3450590"/>
            <a:ext cx="6120130" cy="12465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30000"/>
              </a:lnSpc>
              <a:defRPr/>
            </a:pPr>
            <a:r>
              <a:rPr lang="en-US" sz="1500" b="0" i="0" u="none" baseline="0" dirty="0">
                <a:solidFill>
                  <a:srgbClr val="262626"/>
                </a:solidFill>
                <a:latin typeface="思源黑体 Normal"/>
                <a:ea typeface="思源黑体 Normal"/>
              </a:rPr>
              <a:t>Utilizing Delta Lake for reliable and ACID-compliant data operations during ETL processing.</a:t>
            </a:r>
            <a:endParaRPr lang="en-US" sz="1100" dirty="0"/>
          </a:p>
        </p:txBody>
      </p:sp>
      <p:sp>
        <p:nvSpPr>
          <p:cNvPr id="15" name="TextBox 15"/>
          <p:cNvSpPr txBox="1"/>
          <p:nvPr/>
        </p:nvSpPr>
        <p:spPr>
          <a:xfrm>
            <a:off x="5277485" y="2973705"/>
            <a:ext cx="6120130" cy="60198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90000"/>
              </a:lnSpc>
              <a:defRPr/>
            </a:pPr>
            <a:r>
              <a:rPr lang="en-US" sz="2000" b="1" i="0" u="none" baseline="0">
                <a:solidFill>
                  <a:srgbClr val="2787DC"/>
                </a:solidFill>
                <a:latin typeface="思源黑体 Normal"/>
                <a:ea typeface="思源黑体 Normal"/>
              </a:rPr>
              <a:t>Intermediary Format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5277485" y="5344795"/>
            <a:ext cx="6120130" cy="12465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30000"/>
              </a:lnSpc>
              <a:defRPr/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Using MERGE/UPSERT operations to efficiently load and update dimension and fact tables.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5277485" y="4852670"/>
            <a:ext cx="6120130" cy="61722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90000"/>
              </a:lnSpc>
              <a:defRPr/>
            </a:pPr>
            <a:r>
              <a:rPr lang="en-US" sz="2000" b="1" i="0" u="none" baseline="0">
                <a:solidFill>
                  <a:srgbClr val="2787DC"/>
                </a:solidFill>
                <a:latin typeface="思源黑体 Normal"/>
                <a:ea typeface="思源黑体 Normal"/>
              </a:rPr>
              <a:t>Data Synchronization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838200" y="1270000"/>
            <a:ext cx="5347970" cy="4272280"/>
            <a:chOff x="1320" y="1899"/>
            <a:chExt cx="8422" cy="6728"/>
          </a:xfrm>
        </p:grpSpPr>
        <p:sp>
          <p:nvSpPr>
            <p:cNvPr id="14" name="TextBox 14"/>
            <p:cNvSpPr txBox="1"/>
            <p:nvPr/>
          </p:nvSpPr>
          <p:spPr>
            <a:xfrm>
              <a:off x="1560" y="3619"/>
              <a:ext cx="8182" cy="5008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 dirty="0">
                  <a:solidFill>
                    <a:schemeClr val="tx1"/>
                  </a:solidFill>
                  <a:latin typeface="思源黑体 Normal"/>
                  <a:ea typeface="思源黑体 Normal"/>
                </a:rPr>
                <a:t>Automating the synchronization of customer master data and account status updates.</a:t>
              </a:r>
            </a:p>
            <a:p>
              <a:pPr>
                <a:lnSpc>
                  <a:spcPct val="150000"/>
                </a:lnSpc>
              </a:pPr>
              <a:r>
                <a:rPr lang="en-US" sz="1500" b="1" dirty="0">
                  <a:latin typeface="+mj-lt"/>
                </a:rPr>
                <a:t>Trigger Conditions:</a:t>
              </a:r>
              <a:endParaRPr lang="en-US" sz="1500" dirty="0">
                <a:latin typeface="+mj-lt"/>
              </a:endParaRPr>
            </a:p>
            <a:p>
              <a:pPr>
                <a:lnSpc>
                  <a:spcPct val="150000"/>
                </a:lnSpc>
              </a:pPr>
              <a:r>
                <a:rPr lang="en-US" sz="1500" dirty="0">
                  <a:latin typeface="+mj-lt"/>
                </a:rPr>
                <a:t>ATM withdrawals above a threshold (e.g., ₹50,000+)</a:t>
              </a:r>
            </a:p>
            <a:p>
              <a:pPr>
                <a:lnSpc>
                  <a:spcPct val="150000"/>
                </a:lnSpc>
              </a:pPr>
              <a:r>
                <a:rPr lang="en-US" sz="1500" dirty="0">
                  <a:latin typeface="+mj-lt"/>
                </a:rPr>
                <a:t>High number of UPI transactions in short time</a:t>
              </a:r>
            </a:p>
            <a:p>
              <a:pPr>
                <a:lnSpc>
                  <a:spcPct val="150000"/>
                </a:lnSpc>
              </a:pPr>
              <a:r>
                <a:rPr lang="en-US" sz="1500" dirty="0">
                  <a:latin typeface="+mj-lt"/>
                </a:rPr>
                <a:t>Login attempts from unusual locations or devices</a:t>
              </a:r>
            </a:p>
            <a:p>
              <a:pPr>
                <a:lnSpc>
                  <a:spcPct val="150000"/>
                </a:lnSpc>
              </a:pPr>
              <a:r>
                <a:rPr lang="en-US" sz="1500" dirty="0">
                  <a:latin typeface="+mj-lt"/>
                </a:rPr>
                <a:t>Transactions outside normal customer behavior patterns</a:t>
              </a:r>
            </a:p>
            <a:p>
              <a:pPr marL="0" indent="0" algn="just" fontAlgn="auto">
                <a:lnSpc>
                  <a:spcPct val="150000"/>
                </a:lnSpc>
                <a:defRPr/>
              </a:pPr>
              <a:endParaRPr lang="en-US" sz="1100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20" y="1899"/>
              <a:ext cx="8422" cy="2202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 dirty="0">
                  <a:solidFill>
                    <a:srgbClr val="2787DC"/>
                  </a:solidFill>
                  <a:latin typeface="思源黑体 Normal"/>
                  <a:ea typeface="思源黑体 Normal"/>
                </a:rPr>
                <a:t>Timer-Triggered Azure Functions</a:t>
              </a:r>
              <a:endParaRPr lang="en-US" sz="1100" dirty="0"/>
            </a:p>
          </p:txBody>
        </p:sp>
      </p:grpSp>
      <p:sp>
        <p:nvSpPr>
          <p:cNvPr id="16" name="Freeform 16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2787DC"/>
          </a:solidFill>
        </p:spPr>
      </p:sp>
      <p:sp>
        <p:nvSpPr>
          <p:cNvPr id="17" name="TextBox 17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2787DC"/>
                </a:solidFill>
                <a:latin typeface="思源黑体 Normal"/>
                <a:ea typeface="思源黑体 Normal"/>
              </a:rPr>
              <a:t>Scheduled Data Synchronization Mechanism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alphaModFix amt="8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" y="945515"/>
            <a:ext cx="7417435" cy="3452495"/>
            <a:chOff x="180" y="1779"/>
            <a:chExt cx="11681" cy="5437"/>
          </a:xfrm>
        </p:grpSpPr>
        <p:grpSp>
          <p:nvGrpSpPr>
            <p:cNvPr id="3" name="Group 3"/>
            <p:cNvGrpSpPr/>
            <p:nvPr/>
          </p:nvGrpSpPr>
          <p:grpSpPr>
            <a:xfrm>
              <a:off x="320" y="1779"/>
              <a:ext cx="11541" cy="2310"/>
              <a:chOff x="-4958" y="1162"/>
              <a:chExt cx="11541" cy="2310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-4958" y="1162"/>
                <a:ext cx="4488" cy="1193"/>
              </a:xfrm>
              <a:prstGeom prst="roundRect">
                <a:avLst/>
              </a:prstGeom>
              <a:solidFill>
                <a:srgbClr val="2787DC"/>
              </a:solidFill>
            </p:spPr>
            <p:txBody>
              <a:bodyPr vert="horz" lIns="91440" tIns="45720" rIns="91440" bIns="45720" anchor="t"/>
              <a:lstStyle/>
              <a:p>
                <a:pPr marL="0" algn="l"/>
                <a:endParaRPr/>
              </a:p>
            </p:txBody>
          </p:sp>
          <p:grpSp>
            <p:nvGrpSpPr>
              <p:cNvPr id="5" name="Group 5"/>
              <p:cNvGrpSpPr/>
              <p:nvPr/>
            </p:nvGrpSpPr>
            <p:grpSpPr>
              <a:xfrm>
                <a:off x="-4788" y="1202"/>
                <a:ext cx="11371" cy="2270"/>
                <a:chOff x="3191" y="712"/>
                <a:chExt cx="11371" cy="2270"/>
              </a:xfrm>
            </p:grpSpPr>
            <p:sp>
              <p:nvSpPr>
                <p:cNvPr id="6" name="TextBox 6"/>
                <p:cNvSpPr txBox="1"/>
                <p:nvPr/>
              </p:nvSpPr>
              <p:spPr>
                <a:xfrm>
                  <a:off x="3191" y="712"/>
                  <a:ext cx="4521" cy="1113"/>
                </a:xfrm>
                <a:prstGeom prst="rect">
                  <a:avLst/>
                </a:prstGeom>
                <a:noFill/>
              </p:spPr>
              <p:txBody>
                <a:bodyPr vert="horz" wrap="square" lIns="91440" tIns="45720" rIns="91440" bIns="45720" rtlCol="0" anchor="ctr">
                  <a:noAutofit/>
                </a:bodyPr>
                <a:lstStyle/>
                <a:p>
                  <a:pPr marL="0" algn="l">
                    <a:defRPr/>
                  </a:pPr>
                  <a:r>
                    <a:rPr lang="en-US" sz="4000" b="1" i="0" u="none" baseline="0">
                      <a:solidFill>
                        <a:schemeClr val="bg1"/>
                      </a:solidFill>
                      <a:latin typeface="思源黑体 Normal"/>
                      <a:ea typeface="思源黑体 Normal"/>
                    </a:rPr>
                    <a:t>PART  05</a:t>
                  </a:r>
                  <a:endParaRPr lang="en-US" sz="1100"/>
                </a:p>
              </p:txBody>
            </p:sp>
            <p:sp>
              <p:nvSpPr>
                <p:cNvPr id="7" name="AutoShape 7"/>
                <p:cNvSpPr/>
                <p:nvPr/>
              </p:nvSpPr>
              <p:spPr>
                <a:xfrm>
                  <a:off x="10041" y="1862"/>
                  <a:ext cx="4521" cy="1120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txBody>
                <a:bodyPr vert="horz" lIns="91440" tIns="45720" rIns="91440" bIns="45720" anchor="ctr"/>
                <a:lstStyle/>
                <a:p>
                  <a:pPr marL="0" algn="l"/>
                  <a:endParaRPr/>
                </a:p>
              </p:txBody>
            </p:sp>
          </p:grpSp>
        </p:grpSp>
        <p:sp>
          <p:nvSpPr>
            <p:cNvPr id="8" name="TextBox 8"/>
            <p:cNvSpPr txBox="1"/>
            <p:nvPr/>
          </p:nvSpPr>
          <p:spPr>
            <a:xfrm>
              <a:off x="180" y="3926"/>
              <a:ext cx="11601" cy="329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5400" b="0" i="0" u="none" baseline="0">
                  <a:solidFill>
                    <a:schemeClr val="tx1">
                      <a:lumMod val="90000"/>
                      <a:lumOff val="10000"/>
                    </a:schemeClr>
                  </a:solidFill>
                  <a:latin typeface="思源黑体 Medium"/>
                  <a:ea typeface="思源黑体 Medium"/>
                </a:rPr>
                <a:t>Day 4: Real-Time Alerts, Security &amp; CI/CD</a:t>
              </a:r>
              <a:endParaRPr lang="en-US" sz="110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2787DC"/>
          </a:solidFill>
        </p:spPr>
      </p:sp>
      <p:sp>
        <p:nvSpPr>
          <p:cNvPr id="15" name="TextBox 15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AC7BA8-6F4A-F92B-1778-9D46356E8DBB}"/>
              </a:ext>
            </a:extLst>
          </p:cNvPr>
          <p:cNvSpPr txBox="1"/>
          <p:nvPr/>
        </p:nvSpPr>
        <p:spPr>
          <a:xfrm>
            <a:off x="990600" y="1143000"/>
            <a:ext cx="10058400" cy="4661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sz="2000" dirty="0"/>
              <a:t>Focuses on processing raw and validated banking data using Azure Databricks. The goal is to clean, transform, enrich and prepare the data for analytics and reporting.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 In this stage, Spark is used to load ingested data from the data lake, apply business rules, remove duplicates, standardize formats, join reference datasets, and generate curated (gold) datasets.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This ensures the data is accurate, structured, and ready for dashboards, risk scoring, fraud analytics, and machine-learning workloads.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 Azure Databricks provides scalable distributed processing, version-controlled notebooks, and seamless integration with Delta Lake, which helps maintain data consistency and reliability across the pipeline.</a:t>
            </a:r>
            <a:endParaRPr lang="en-IN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730901" y="4066494"/>
            <a:ext cx="3098118" cy="0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  <p:sp>
        <p:nvSpPr>
          <p:cNvPr id="4" name="AutoShape 4"/>
          <p:cNvSpPr/>
          <p:nvPr/>
        </p:nvSpPr>
        <p:spPr>
          <a:xfrm>
            <a:off x="751913" y="2158734"/>
            <a:ext cx="3085352" cy="406535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 lnSpcReduction="10000"/>
          </a:bodyPr>
          <a:lstStyle/>
          <a:p>
            <a:pPr marL="0" indent="0" algn="l" fontAlgn="auto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i="0" u="none" baseline="0" dirty="0">
                <a:solidFill>
                  <a:srgbClr val="2787DC"/>
                </a:solidFill>
                <a:latin typeface="思源黑体 Normal"/>
                <a:ea typeface="思源黑体 Normal"/>
              </a:rPr>
              <a:t>Event Trigger</a:t>
            </a:r>
          </a:p>
        </p:txBody>
      </p:sp>
      <p:cxnSp>
        <p:nvCxnSpPr>
          <p:cNvPr id="5" name="Connector 5"/>
          <p:cNvCxnSpPr/>
          <p:nvPr/>
        </p:nvCxnSpPr>
        <p:spPr>
          <a:xfrm>
            <a:off x="4546941" y="4066494"/>
            <a:ext cx="3098118" cy="0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  <p:cxnSp>
        <p:nvCxnSpPr>
          <p:cNvPr id="7" name="Connector 7"/>
          <p:cNvCxnSpPr/>
          <p:nvPr/>
        </p:nvCxnSpPr>
        <p:spPr>
          <a:xfrm>
            <a:off x="8362981" y="4066494"/>
            <a:ext cx="3098118" cy="0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  <p:sp>
        <p:nvSpPr>
          <p:cNvPr id="9" name="TextBox 9"/>
          <p:cNvSpPr txBox="1"/>
          <p:nvPr/>
        </p:nvSpPr>
        <p:spPr>
          <a:xfrm>
            <a:off x="751913" y="2565270"/>
            <a:ext cx="3085351" cy="1727462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600" b="0" i="0" u="none" baseline="0" dirty="0">
                <a:solidFill>
                  <a:schemeClr val="tx1"/>
                </a:solidFill>
                <a:latin typeface="思源黑体 Normal"/>
                <a:ea typeface="思源黑体 Normal"/>
              </a:rPr>
              <a:t>High-value transactions generate events to Event Grid for immediate analysis.</a:t>
            </a:r>
            <a:endParaRPr lang="en-US" sz="1600" dirty="0"/>
          </a:p>
        </p:txBody>
      </p:sp>
      <p:sp>
        <p:nvSpPr>
          <p:cNvPr id="10" name="AutoShape 10"/>
          <p:cNvSpPr/>
          <p:nvPr/>
        </p:nvSpPr>
        <p:spPr>
          <a:xfrm>
            <a:off x="8206740" y="2067513"/>
            <a:ext cx="3232110" cy="4419586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i="0" u="none" baseline="0" dirty="0">
                <a:solidFill>
                  <a:srgbClr val="2787DC"/>
                </a:solidFill>
                <a:latin typeface="思源黑体 Normal"/>
                <a:ea typeface="思源黑体 Normal"/>
              </a:rPr>
              <a:t>Action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19600" y="2565269"/>
            <a:ext cx="3204805" cy="1320928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600" b="0" i="0" u="none" baseline="0" dirty="0" err="1">
                <a:solidFill>
                  <a:schemeClr val="tx1"/>
                </a:solidFill>
                <a:latin typeface="思源黑体 Normal"/>
                <a:ea typeface="思源黑体 Normal"/>
              </a:rPr>
              <a:t>AzureFunction</a:t>
            </a:r>
            <a:r>
              <a:rPr lang="en-US" sz="1600" b="0" i="0" u="none" baseline="0" dirty="0">
                <a:solidFill>
                  <a:schemeClr val="tx1"/>
                </a:solidFill>
                <a:latin typeface="思源黑体 Normal"/>
                <a:ea typeface="思源黑体 Normal"/>
              </a:rPr>
              <a:t> analyzes transactions against rules (location, frequency, time).</a:t>
            </a:r>
            <a:endParaRPr lang="en-US" sz="1600" dirty="0"/>
          </a:p>
        </p:txBody>
      </p:sp>
      <p:sp>
        <p:nvSpPr>
          <p:cNvPr id="12" name="AutoShape 12"/>
          <p:cNvSpPr/>
          <p:nvPr/>
        </p:nvSpPr>
        <p:spPr>
          <a:xfrm>
            <a:off x="4800600" y="2133606"/>
            <a:ext cx="2823805" cy="4495789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i="0" u="none" baseline="0" dirty="0">
                <a:solidFill>
                  <a:srgbClr val="2787DC"/>
                </a:solidFill>
                <a:latin typeface="思源黑体 Normal"/>
                <a:ea typeface="思源黑体 Normal"/>
              </a:rPr>
              <a:t>Anomaly Detection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06740" y="2565269"/>
            <a:ext cx="3232110" cy="1501224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600" b="0" i="0" u="none" baseline="0" dirty="0">
                <a:solidFill>
                  <a:schemeClr val="tx1"/>
                </a:solidFill>
                <a:latin typeface="思源黑体 Normal"/>
                <a:ea typeface="思源黑体 Normal"/>
              </a:rPr>
              <a:t>Alerts inserted into Cosmos DB and customer SMS/email notifications via Service Bus.</a:t>
            </a:r>
            <a:endParaRPr lang="en-US" sz="1600" dirty="0"/>
          </a:p>
        </p:txBody>
      </p:sp>
      <p:sp>
        <p:nvSpPr>
          <p:cNvPr id="14" name="Freeform 1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2787DC"/>
          </a:solidFill>
        </p:spPr>
      </p:sp>
      <p:sp>
        <p:nvSpPr>
          <p:cNvPr id="15" name="TextBox 15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2787DC"/>
                </a:solidFill>
                <a:latin typeface="思源黑体 Normal"/>
                <a:ea typeface="思源黑体 Normal"/>
              </a:rPr>
              <a:t>Real-Time Fraud Alerts</a:t>
            </a:r>
            <a:endParaRPr lang="en-US" sz="11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7C243B-1CD2-07F6-0558-288367BEE072}"/>
              </a:ext>
            </a:extLst>
          </p:cNvPr>
          <p:cNvSpPr txBox="1"/>
          <p:nvPr/>
        </p:nvSpPr>
        <p:spPr>
          <a:xfrm>
            <a:off x="751913" y="838200"/>
            <a:ext cx="6334687" cy="1208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✔ Behavior Analysis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Check customer’s past spending behavior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Detect unusual withdrawal patterns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02A6D1-3606-A348-0677-E83EB35DED73}"/>
              </a:ext>
            </a:extLst>
          </p:cNvPr>
          <p:cNvSpPr txBox="1"/>
          <p:nvPr/>
        </p:nvSpPr>
        <p:spPr>
          <a:xfrm>
            <a:off x="751913" y="4404987"/>
            <a:ext cx="61750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/>
              <a:t>✔ Output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Save fraud event into </a:t>
            </a:r>
            <a:r>
              <a:rPr lang="en-US" sz="1600" dirty="0" err="1"/>
              <a:t>CosmosDB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/>
              <a:t>Send message to Service bus for notifications</a:t>
            </a:r>
          </a:p>
          <a:p>
            <a:endParaRPr lang="en-IN" dirty="0"/>
          </a:p>
        </p:txBody>
      </p:sp>
    </p:spTree>
  </p:cSld>
  <p:clrMapOvr>
    <a:masterClrMapping/>
  </p:clrMapOvr>
  <p:transition advClick="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4385310" y="2951480"/>
            <a:ext cx="3420110" cy="298894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50000"/>
              </a:lnSpc>
              <a:defRPr/>
            </a:pPr>
            <a:r>
              <a:rPr lang="en-US" sz="1500" b="0" i="0" u="none" baseline="0" dirty="0">
                <a:solidFill>
                  <a:schemeClr val="tx1"/>
                </a:solidFill>
                <a:latin typeface="思源黑体 Normal"/>
                <a:ea typeface="思源黑体 Normal"/>
              </a:rPr>
              <a:t>.</a:t>
            </a:r>
            <a:endParaRPr lang="en-US" sz="1100" dirty="0"/>
          </a:p>
        </p:txBody>
      </p:sp>
      <p:sp>
        <p:nvSpPr>
          <p:cNvPr id="9" name="TextBox 9"/>
          <p:cNvSpPr txBox="1"/>
          <p:nvPr/>
        </p:nvSpPr>
        <p:spPr>
          <a:xfrm>
            <a:off x="695960" y="2951480"/>
            <a:ext cx="3420110" cy="298894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50000"/>
              </a:lnSpc>
              <a:defRPr/>
            </a:pPr>
            <a:endParaRPr lang="en-US" sz="1100" dirty="0"/>
          </a:p>
        </p:txBody>
      </p:sp>
      <p:sp>
        <p:nvSpPr>
          <p:cNvPr id="10" name="TextBox 10"/>
          <p:cNvSpPr txBox="1"/>
          <p:nvPr/>
        </p:nvSpPr>
        <p:spPr>
          <a:xfrm>
            <a:off x="8075930" y="2951480"/>
            <a:ext cx="3420110" cy="298894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50000"/>
              </a:lnSpc>
              <a:defRPr/>
            </a:pPr>
            <a:endParaRPr lang="en-US" sz="1100" dirty="0"/>
          </a:p>
        </p:txBody>
      </p:sp>
      <p:sp>
        <p:nvSpPr>
          <p:cNvPr id="11" name="TextBox 11"/>
          <p:cNvSpPr txBox="1"/>
          <p:nvPr/>
        </p:nvSpPr>
        <p:spPr>
          <a:xfrm>
            <a:off x="695960" y="2202180"/>
            <a:ext cx="3420745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endParaRPr lang="en-US" sz="1100" dirty="0"/>
          </a:p>
        </p:txBody>
      </p:sp>
      <p:sp>
        <p:nvSpPr>
          <p:cNvPr id="12" name="TextBox 12"/>
          <p:cNvSpPr txBox="1"/>
          <p:nvPr/>
        </p:nvSpPr>
        <p:spPr>
          <a:xfrm>
            <a:off x="4385310" y="2202180"/>
            <a:ext cx="3420745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endParaRPr lang="en-US" sz="1100" dirty="0"/>
          </a:p>
        </p:txBody>
      </p:sp>
      <p:sp>
        <p:nvSpPr>
          <p:cNvPr id="13" name="TextBox 13"/>
          <p:cNvSpPr txBox="1"/>
          <p:nvPr/>
        </p:nvSpPr>
        <p:spPr>
          <a:xfrm>
            <a:off x="8075930" y="2202180"/>
            <a:ext cx="3420745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endParaRPr lang="en-US" sz="1100" dirty="0"/>
          </a:p>
        </p:txBody>
      </p:sp>
      <p:sp>
        <p:nvSpPr>
          <p:cNvPr id="14" name="Freeform 1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2787DC"/>
          </a:solidFill>
        </p:spPr>
      </p:sp>
      <p:sp>
        <p:nvSpPr>
          <p:cNvPr id="15" name="TextBox 15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2787DC"/>
                </a:solidFill>
                <a:latin typeface="思源黑体 Normal"/>
                <a:ea typeface="思源黑体 Normal"/>
              </a:rPr>
              <a:t>CI/CD Pipeline Setup</a:t>
            </a:r>
            <a:endParaRPr lang="en-US" sz="11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07B3E0-25F1-8A59-40C4-E817ECC4AF1F}"/>
              </a:ext>
            </a:extLst>
          </p:cNvPr>
          <p:cNvSpPr txBox="1"/>
          <p:nvPr/>
        </p:nvSpPr>
        <p:spPr>
          <a:xfrm>
            <a:off x="781051" y="1371600"/>
            <a:ext cx="10191750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Focused on implementing a CI/CD pipeline to automate code deployment across environments such as Dev, Test, and Production.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Azure DevOps Pipelines and Repos are used to store the project code, track changes, and automate builds and releases.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pipeline pulls the latest code from the repository, installs dependencies, runs validation checks, and deploys Function Apps and Databricks notebooks to Azure automatically.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This ensures consistent deployments, reduces manual errors, and enables faster delivery of updates.</a:t>
            </a:r>
            <a:endParaRPr lang="en-IN" dirty="0"/>
          </a:p>
        </p:txBody>
      </p:sp>
    </p:spTree>
  </p:cSld>
  <p:clrMapOvr>
    <a:masterClrMapping/>
  </p:clrMapOvr>
  <p:transition advClick="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alphaModFix amt="8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" y="945515"/>
            <a:ext cx="7417435" cy="3452495"/>
            <a:chOff x="180" y="1779"/>
            <a:chExt cx="11681" cy="5437"/>
          </a:xfrm>
        </p:grpSpPr>
        <p:grpSp>
          <p:nvGrpSpPr>
            <p:cNvPr id="3" name="Group 3"/>
            <p:cNvGrpSpPr/>
            <p:nvPr/>
          </p:nvGrpSpPr>
          <p:grpSpPr>
            <a:xfrm>
              <a:off x="320" y="1779"/>
              <a:ext cx="11541" cy="2310"/>
              <a:chOff x="-4958" y="1162"/>
              <a:chExt cx="11541" cy="2310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-4958" y="1162"/>
                <a:ext cx="4488" cy="1193"/>
              </a:xfrm>
              <a:prstGeom prst="roundRect">
                <a:avLst/>
              </a:prstGeom>
              <a:solidFill>
                <a:srgbClr val="2787DC"/>
              </a:solidFill>
            </p:spPr>
            <p:txBody>
              <a:bodyPr vert="horz" lIns="91440" tIns="45720" rIns="91440" bIns="45720" anchor="t"/>
              <a:lstStyle/>
              <a:p>
                <a:pPr marL="0" algn="l"/>
                <a:endParaRPr/>
              </a:p>
            </p:txBody>
          </p:sp>
          <p:grpSp>
            <p:nvGrpSpPr>
              <p:cNvPr id="5" name="Group 5"/>
              <p:cNvGrpSpPr/>
              <p:nvPr/>
            </p:nvGrpSpPr>
            <p:grpSpPr>
              <a:xfrm>
                <a:off x="-4788" y="1202"/>
                <a:ext cx="11371" cy="2270"/>
                <a:chOff x="3191" y="712"/>
                <a:chExt cx="11371" cy="2270"/>
              </a:xfrm>
            </p:grpSpPr>
            <p:sp>
              <p:nvSpPr>
                <p:cNvPr id="6" name="TextBox 6"/>
                <p:cNvSpPr txBox="1"/>
                <p:nvPr/>
              </p:nvSpPr>
              <p:spPr>
                <a:xfrm>
                  <a:off x="3191" y="712"/>
                  <a:ext cx="4521" cy="1113"/>
                </a:xfrm>
                <a:prstGeom prst="rect">
                  <a:avLst/>
                </a:prstGeom>
                <a:noFill/>
              </p:spPr>
              <p:txBody>
                <a:bodyPr vert="horz" wrap="square" lIns="91440" tIns="45720" rIns="91440" bIns="45720" rtlCol="0" anchor="ctr">
                  <a:noAutofit/>
                </a:bodyPr>
                <a:lstStyle/>
                <a:p>
                  <a:pPr marL="0" algn="l">
                    <a:defRPr/>
                  </a:pPr>
                  <a:r>
                    <a:rPr lang="en-US" sz="4000" b="1" i="0" u="none" baseline="0">
                      <a:solidFill>
                        <a:schemeClr val="bg1"/>
                      </a:solidFill>
                      <a:latin typeface="思源黑体 Normal"/>
                      <a:ea typeface="思源黑体 Normal"/>
                    </a:rPr>
                    <a:t>PART  06</a:t>
                  </a:r>
                  <a:endParaRPr lang="en-US" sz="1100"/>
                </a:p>
              </p:txBody>
            </p:sp>
            <p:sp>
              <p:nvSpPr>
                <p:cNvPr id="7" name="AutoShape 7"/>
                <p:cNvSpPr/>
                <p:nvPr/>
              </p:nvSpPr>
              <p:spPr>
                <a:xfrm>
                  <a:off x="10041" y="1862"/>
                  <a:ext cx="4521" cy="1120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txBody>
                <a:bodyPr vert="horz" lIns="91440" tIns="45720" rIns="91440" bIns="45720" anchor="ctr"/>
                <a:lstStyle/>
                <a:p>
                  <a:pPr marL="0" algn="l"/>
                  <a:endParaRPr/>
                </a:p>
              </p:txBody>
            </p:sp>
          </p:grpSp>
        </p:grpSp>
        <p:sp>
          <p:nvSpPr>
            <p:cNvPr id="8" name="TextBox 8"/>
            <p:cNvSpPr txBox="1"/>
            <p:nvPr/>
          </p:nvSpPr>
          <p:spPr>
            <a:xfrm>
              <a:off x="180" y="3926"/>
              <a:ext cx="11601" cy="329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5400" b="0" i="0" u="none" baseline="0">
                  <a:solidFill>
                    <a:schemeClr val="tx1">
                      <a:lumMod val="90000"/>
                      <a:lumOff val="10000"/>
                    </a:schemeClr>
                  </a:solidFill>
                  <a:latin typeface="思源黑体 Medium"/>
                  <a:ea typeface="思源黑体 Medium"/>
                </a:rPr>
                <a:t>Day 5: Reporting, Customer 360 &amp; Final Demo</a:t>
              </a:r>
              <a:endParaRPr lang="en-US" sz="110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1333500" y="2789555"/>
            <a:ext cx="4248000" cy="7920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1333500" y="3581400"/>
            <a:ext cx="4248000" cy="198000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endParaRPr lang="en-US" sz="1500" b="0" i="0" u="none" baseline="0" dirty="0">
              <a:solidFill>
                <a:srgbClr val="333333"/>
              </a:solidFill>
              <a:latin typeface="思源黑体 Normal"/>
              <a:ea typeface="思源黑体 Normal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483985" y="1996440"/>
            <a:ext cx="4248000" cy="7920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6483985" y="2789555"/>
            <a:ext cx="4248000" cy="198000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endParaRPr lang="en-US" sz="1500" b="0" i="0" u="none" baseline="0" dirty="0">
              <a:solidFill>
                <a:srgbClr val="333333"/>
              </a:solidFill>
              <a:latin typeface="思源黑体 Normal"/>
              <a:ea typeface="思源黑体 Normal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2787DC"/>
          </a:solidFill>
        </p:spPr>
      </p:sp>
      <p:sp>
        <p:nvSpPr>
          <p:cNvPr id="17" name="TextBox 17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 dirty="0">
                <a:ln/>
                <a:solidFill>
                  <a:srgbClr val="2787DC"/>
                </a:solidFill>
                <a:latin typeface="思源黑体 Normal"/>
                <a:ea typeface="思源黑体 Normal"/>
              </a:rPr>
              <a:t>Customer 360 Analytical View</a:t>
            </a:r>
            <a:endParaRPr lang="en-US" sz="1100" dirty="0"/>
          </a:p>
        </p:txBody>
      </p:sp>
      <p:sp>
        <p:nvSpPr>
          <p:cNvPr id="20" name="Freeform 20"/>
          <p:cNvSpPr/>
          <p:nvPr/>
        </p:nvSpPr>
        <p:spPr>
          <a:xfrm>
            <a:off x="10417281" y="5550776"/>
            <a:ext cx="193993" cy="208093"/>
          </a:xfrm>
          <a:custGeom>
            <a:avLst/>
            <a:gdLst/>
            <a:ahLst/>
            <a:cxnLst/>
            <a:rect l="l" t="t" r="r" b="b"/>
            <a:pathLst>
              <a:path w="487477" h="522922">
                <a:moveTo>
                  <a:pt x="8356" y="512114"/>
                </a:moveTo>
                <a:lnTo>
                  <a:pt x="8356" y="512114"/>
                </a:lnTo>
                <a:lnTo>
                  <a:pt x="8356" y="512114"/>
                </a:lnTo>
                <a:lnTo>
                  <a:pt x="7404" y="511161"/>
                </a:lnTo>
                <a:cubicBezTo>
                  <a:pt x="6451" y="510209"/>
                  <a:pt x="6451" y="509256"/>
                  <a:pt x="5499" y="508303"/>
                </a:cubicBezTo>
                <a:lnTo>
                  <a:pt x="5499" y="508303"/>
                </a:lnTo>
                <a:lnTo>
                  <a:pt x="5499" y="507351"/>
                </a:lnTo>
                <a:lnTo>
                  <a:pt x="4546" y="505446"/>
                </a:lnTo>
                <a:lnTo>
                  <a:pt x="3593" y="503541"/>
                </a:lnTo>
                <a:lnTo>
                  <a:pt x="3593" y="503541"/>
                </a:lnTo>
                <a:lnTo>
                  <a:pt x="3593" y="503541"/>
                </a:lnTo>
                <a:lnTo>
                  <a:pt x="3593" y="503541"/>
                </a:lnTo>
                <a:lnTo>
                  <a:pt x="2641" y="501636"/>
                </a:lnTo>
                <a:cubicBezTo>
                  <a:pt x="2641" y="501636"/>
                  <a:pt x="2641" y="500684"/>
                  <a:pt x="2641" y="500684"/>
                </a:cubicBezTo>
                <a:cubicBezTo>
                  <a:pt x="2641" y="499731"/>
                  <a:pt x="2641" y="499731"/>
                  <a:pt x="1689" y="498778"/>
                </a:cubicBezTo>
                <a:cubicBezTo>
                  <a:pt x="1689" y="497826"/>
                  <a:pt x="736" y="495921"/>
                  <a:pt x="736" y="494968"/>
                </a:cubicBezTo>
                <a:lnTo>
                  <a:pt x="736" y="492111"/>
                </a:lnTo>
                <a:cubicBezTo>
                  <a:pt x="736" y="490206"/>
                  <a:pt x="736" y="487349"/>
                  <a:pt x="736" y="485443"/>
                </a:cubicBezTo>
                <a:cubicBezTo>
                  <a:pt x="736" y="478776"/>
                  <a:pt x="2641" y="473061"/>
                  <a:pt x="5499" y="467346"/>
                </a:cubicBezTo>
                <a:lnTo>
                  <a:pt x="155041" y="151116"/>
                </a:lnTo>
                <a:cubicBezTo>
                  <a:pt x="157899" y="146353"/>
                  <a:pt x="158851" y="140639"/>
                  <a:pt x="158851" y="134924"/>
                </a:cubicBezTo>
                <a:lnTo>
                  <a:pt x="158851" y="19671"/>
                </a:lnTo>
                <a:lnTo>
                  <a:pt x="120751" y="19671"/>
                </a:lnTo>
                <a:lnTo>
                  <a:pt x="120751" y="621"/>
                </a:lnTo>
                <a:lnTo>
                  <a:pt x="368401" y="621"/>
                </a:lnTo>
                <a:lnTo>
                  <a:pt x="368401" y="19671"/>
                </a:lnTo>
                <a:lnTo>
                  <a:pt x="330301" y="19671"/>
                </a:lnTo>
                <a:lnTo>
                  <a:pt x="330301" y="134924"/>
                </a:lnTo>
                <a:cubicBezTo>
                  <a:pt x="330301" y="140639"/>
                  <a:pt x="331254" y="146353"/>
                  <a:pt x="334111" y="151116"/>
                </a:cubicBezTo>
                <a:lnTo>
                  <a:pt x="483654" y="467346"/>
                </a:lnTo>
                <a:cubicBezTo>
                  <a:pt x="489368" y="478776"/>
                  <a:pt x="489368" y="492111"/>
                  <a:pt x="485558" y="504493"/>
                </a:cubicBezTo>
                <a:lnTo>
                  <a:pt x="485558" y="504493"/>
                </a:lnTo>
                <a:lnTo>
                  <a:pt x="484606" y="506399"/>
                </a:lnTo>
                <a:cubicBezTo>
                  <a:pt x="479843" y="515924"/>
                  <a:pt x="470318" y="522591"/>
                  <a:pt x="459841" y="523543"/>
                </a:cubicBezTo>
                <a:lnTo>
                  <a:pt x="457936" y="523543"/>
                </a:lnTo>
                <a:lnTo>
                  <a:pt x="32168" y="523543"/>
                </a:lnTo>
                <a:lnTo>
                  <a:pt x="30264" y="523543"/>
                </a:lnTo>
                <a:cubicBezTo>
                  <a:pt x="29311" y="523543"/>
                  <a:pt x="28358" y="523543"/>
                  <a:pt x="27406" y="523543"/>
                </a:cubicBezTo>
                <a:cubicBezTo>
                  <a:pt x="26454" y="523543"/>
                  <a:pt x="24549" y="523543"/>
                  <a:pt x="23596" y="522591"/>
                </a:cubicBezTo>
                <a:lnTo>
                  <a:pt x="23596" y="522591"/>
                </a:lnTo>
                <a:cubicBezTo>
                  <a:pt x="21691" y="521639"/>
                  <a:pt x="19786" y="521639"/>
                  <a:pt x="17881" y="520686"/>
                </a:cubicBezTo>
                <a:lnTo>
                  <a:pt x="15976" y="519734"/>
                </a:lnTo>
                <a:cubicBezTo>
                  <a:pt x="15976" y="519734"/>
                  <a:pt x="15024" y="519734"/>
                  <a:pt x="15024" y="518781"/>
                </a:cubicBezTo>
                <a:cubicBezTo>
                  <a:pt x="13118" y="517828"/>
                  <a:pt x="11214" y="515924"/>
                  <a:pt x="10261" y="514971"/>
                </a:cubicBezTo>
                <a:lnTo>
                  <a:pt x="8356" y="512114"/>
                </a:lnTo>
                <a:lnTo>
                  <a:pt x="8356" y="512114"/>
                </a:lnTo>
                <a:close/>
                <a:moveTo>
                  <a:pt x="255054" y="402576"/>
                </a:moveTo>
                <a:lnTo>
                  <a:pt x="252196" y="404481"/>
                </a:lnTo>
                <a:lnTo>
                  <a:pt x="246481" y="408291"/>
                </a:lnTo>
                <a:cubicBezTo>
                  <a:pt x="198856" y="439724"/>
                  <a:pt x="119799" y="440676"/>
                  <a:pt x="55029" y="414959"/>
                </a:cubicBezTo>
                <a:lnTo>
                  <a:pt x="51218" y="413053"/>
                </a:lnTo>
                <a:lnTo>
                  <a:pt x="22643" y="474014"/>
                </a:lnTo>
                <a:lnTo>
                  <a:pt x="21691" y="475918"/>
                </a:lnTo>
                <a:cubicBezTo>
                  <a:pt x="18833" y="482586"/>
                  <a:pt x="18833" y="490206"/>
                  <a:pt x="21691" y="495921"/>
                </a:cubicBezTo>
                <a:cubicBezTo>
                  <a:pt x="22643" y="498778"/>
                  <a:pt x="25501" y="501636"/>
                  <a:pt x="29311" y="502589"/>
                </a:cubicBezTo>
                <a:lnTo>
                  <a:pt x="30264" y="502589"/>
                </a:lnTo>
                <a:lnTo>
                  <a:pt x="31216" y="502589"/>
                </a:lnTo>
                <a:lnTo>
                  <a:pt x="456983" y="502589"/>
                </a:lnTo>
                <a:lnTo>
                  <a:pt x="457936" y="502589"/>
                </a:lnTo>
                <a:cubicBezTo>
                  <a:pt x="461746" y="502589"/>
                  <a:pt x="464604" y="499731"/>
                  <a:pt x="466508" y="495921"/>
                </a:cubicBezTo>
                <a:cubicBezTo>
                  <a:pt x="468414" y="490206"/>
                  <a:pt x="469366" y="483539"/>
                  <a:pt x="467461" y="477824"/>
                </a:cubicBezTo>
                <a:lnTo>
                  <a:pt x="466508" y="475918"/>
                </a:lnTo>
                <a:lnTo>
                  <a:pt x="465556" y="474014"/>
                </a:lnTo>
                <a:lnTo>
                  <a:pt x="423646" y="385431"/>
                </a:lnTo>
                <a:cubicBezTo>
                  <a:pt x="365543" y="372096"/>
                  <a:pt x="296011" y="376859"/>
                  <a:pt x="255054" y="402576"/>
                </a:cubicBezTo>
                <a:close/>
                <a:moveTo>
                  <a:pt x="305536" y="255891"/>
                </a:moveTo>
                <a:cubicBezTo>
                  <a:pt x="287439" y="255891"/>
                  <a:pt x="272199" y="271131"/>
                  <a:pt x="272199" y="289228"/>
                </a:cubicBezTo>
                <a:cubicBezTo>
                  <a:pt x="272199" y="307326"/>
                  <a:pt x="287439" y="322566"/>
                  <a:pt x="305536" y="322566"/>
                </a:cubicBezTo>
                <a:cubicBezTo>
                  <a:pt x="323633" y="322566"/>
                  <a:pt x="338874" y="307326"/>
                  <a:pt x="338874" y="289228"/>
                </a:cubicBezTo>
                <a:cubicBezTo>
                  <a:pt x="338874" y="270178"/>
                  <a:pt x="323633" y="255891"/>
                  <a:pt x="305536" y="255891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0170" tIns="46990" rIns="90170" bIns="46990" anchor="ctr">
            <a:normAutofit fontScale="47500" lnSpcReduction="20000"/>
          </a:bodyPr>
          <a:lstStyle/>
          <a:p>
            <a:pPr marL="0"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CC580A-3B47-5AD9-E970-75951562B619}"/>
              </a:ext>
            </a:extLst>
          </p:cNvPr>
          <p:cNvSpPr txBox="1"/>
          <p:nvPr/>
        </p:nvSpPr>
        <p:spPr>
          <a:xfrm>
            <a:off x="646377" y="845019"/>
            <a:ext cx="9867900" cy="6509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A unified analytical model combining multiple data sources to provide a complete customer profile.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Transaction History</a:t>
            </a:r>
            <a:r>
              <a:rPr lang="en-IN" dirty="0"/>
              <a:t> → </a:t>
            </a:r>
            <a:r>
              <a:rPr lang="en-IN" dirty="0" err="1"/>
              <a:t>FactTransactions</a:t>
            </a:r>
            <a:r>
              <a:rPr lang="en-IN" dirty="0"/>
              <a:t> (SQL DW)</a:t>
            </a:r>
          </a:p>
          <a:p>
            <a:pPr>
              <a:lnSpc>
                <a:spcPct val="150000"/>
              </a:lnSpc>
            </a:pPr>
            <a:r>
              <a:rPr lang="en-IN" b="1" dirty="0"/>
              <a:t>Demographics &amp; KYC</a:t>
            </a:r>
            <a:r>
              <a:rPr lang="en-IN" dirty="0"/>
              <a:t> → </a:t>
            </a:r>
            <a:r>
              <a:rPr lang="en-IN" dirty="0" err="1"/>
              <a:t>DimCustomer</a:t>
            </a:r>
            <a:r>
              <a:rPr lang="en-IN" dirty="0"/>
              <a:t> (SQL DW)</a:t>
            </a:r>
          </a:p>
          <a:p>
            <a:pPr>
              <a:lnSpc>
                <a:spcPct val="150000"/>
              </a:lnSpc>
            </a:pPr>
            <a:r>
              <a:rPr lang="en-IN" b="1" dirty="0"/>
              <a:t>Device &amp; Login Activity</a:t>
            </a:r>
            <a:r>
              <a:rPr lang="en-IN" dirty="0"/>
              <a:t> → Cosmos DB / </a:t>
            </a:r>
            <a:r>
              <a:rPr lang="en-IN" dirty="0" err="1"/>
              <a:t>FactCustomerActivity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 </a:t>
            </a:r>
            <a:r>
              <a:rPr lang="en-US" sz="3200" b="1" dirty="0">
                <a:ln/>
                <a:solidFill>
                  <a:srgbClr val="2787DC"/>
                </a:solidFill>
                <a:latin typeface="思源黑体 Normal"/>
                <a:ea typeface="思源黑体 Normal"/>
              </a:rPr>
              <a:t>Power BI Dashboards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dirty="0"/>
              <a:t>Branch performance (KPIs, volume, revenue)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dirty="0"/>
              <a:t>Daily transaction trends (real-time + historical)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dirty="0"/>
              <a:t>ATM/UPI channel analytics (geo patterns, success rate, downtime)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dirty="0"/>
              <a:t>Fraud analytics (alerts, anomalies, loss prevention)</a:t>
            </a:r>
          </a:p>
          <a:p>
            <a:pPr>
              <a:lnSpc>
                <a:spcPct val="150000"/>
              </a:lnSpc>
            </a:pPr>
            <a:endParaRPr lang="en-US" sz="3200" dirty="0"/>
          </a:p>
          <a:p>
            <a:pPr>
              <a:lnSpc>
                <a:spcPct val="150000"/>
              </a:lnSpc>
            </a:pPr>
            <a:endParaRPr lang="en-IN" dirty="0"/>
          </a:p>
          <a:p>
            <a:pPr>
              <a:lnSpc>
                <a:spcPct val="150000"/>
              </a:lnSpc>
            </a:pPr>
            <a:endParaRPr lang="en-IN" dirty="0"/>
          </a:p>
          <a:p>
            <a:pPr>
              <a:lnSpc>
                <a:spcPct val="150000"/>
              </a:lnSpc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  <p:transition advClick="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9290" y="1800860"/>
            <a:ext cx="3420000" cy="2880000"/>
          </a:xfrm>
          <a:custGeom>
            <a:avLst/>
            <a:gdLst/>
            <a:ahLst/>
            <a:cxnLst/>
            <a:rect l="l" t="t" r="r" b="b"/>
            <a:pathLst>
              <a:path w="3419475" h="2424738">
                <a:moveTo>
                  <a:pt x="226895" y="0"/>
                </a:moveTo>
                <a:lnTo>
                  <a:pt x="3192580" y="0"/>
                </a:lnTo>
                <a:cubicBezTo>
                  <a:pt x="3317891" y="0"/>
                  <a:pt x="3419475" y="101584"/>
                  <a:pt x="3419475" y="226895"/>
                </a:cubicBezTo>
                <a:lnTo>
                  <a:pt x="3419475" y="1978968"/>
                </a:lnTo>
                <a:cubicBezTo>
                  <a:pt x="3419475" y="2104279"/>
                  <a:pt x="3317891" y="2205863"/>
                  <a:pt x="3192580" y="2205863"/>
                </a:cubicBezTo>
                <a:lnTo>
                  <a:pt x="895506" y="2205863"/>
                </a:lnTo>
                <a:lnTo>
                  <a:pt x="889574" y="2213354"/>
                </a:lnTo>
                <a:cubicBezTo>
                  <a:pt x="809384" y="2314615"/>
                  <a:pt x="744479" y="2396574"/>
                  <a:pt x="740251" y="2401913"/>
                </a:cubicBezTo>
                <a:cubicBezTo>
                  <a:pt x="728975" y="2416153"/>
                  <a:pt x="711196" y="2424738"/>
                  <a:pt x="693034" y="2424738"/>
                </a:cubicBezTo>
                <a:cubicBezTo>
                  <a:pt x="674871" y="2424737"/>
                  <a:pt x="657075" y="2416130"/>
                  <a:pt x="645800" y="2401891"/>
                </a:cubicBezTo>
                <a:cubicBezTo>
                  <a:pt x="641571" y="2396552"/>
                  <a:pt x="576666" y="2314593"/>
                  <a:pt x="496476" y="2213332"/>
                </a:cubicBezTo>
                <a:lnTo>
                  <a:pt x="490561" y="2205863"/>
                </a:lnTo>
                <a:lnTo>
                  <a:pt x="226895" y="2205863"/>
                </a:lnTo>
                <a:cubicBezTo>
                  <a:pt x="101584" y="2205863"/>
                  <a:pt x="0" y="2104279"/>
                  <a:pt x="0" y="1978968"/>
                </a:cubicBezTo>
                <a:lnTo>
                  <a:pt x="0" y="226895"/>
                </a:lnTo>
                <a:cubicBezTo>
                  <a:pt x="0" y="101584"/>
                  <a:pt x="101584" y="0"/>
                  <a:pt x="226895" y="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269875" tIns="90170" rIns="269875" bIns="306070" anchor="ctr">
            <a:normAutofit/>
          </a:bodyPr>
          <a:lstStyle/>
          <a:p>
            <a:pPr marL="0" indent="0" algn="just" fontAlgn="auto">
              <a:lnSpc>
                <a:spcPct val="120000"/>
              </a:lnSpc>
            </a:pPr>
            <a:r>
              <a:rPr lang="en-US" sz="1400" b="0" i="0" u="none" baseline="0">
                <a:solidFill>
                  <a:schemeClr val="tx1"/>
                </a:solidFill>
                <a:latin typeface="思源黑体 Normal"/>
                <a:ea typeface="思源黑体 Normal"/>
              </a:rPr>
              <a:t>Uploading ATM CSV file and verifying event triggers.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8926" y="4908069"/>
            <a:ext cx="3419999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r>
              <a:rPr lang="en-US" sz="2000" b="1" i="0" u="none" baseline="0" dirty="0">
                <a:solidFill>
                  <a:srgbClr val="2787DC"/>
                </a:solidFill>
                <a:latin typeface="思源黑体 Normal"/>
                <a:ea typeface="思源黑体 Normal"/>
              </a:rPr>
              <a:t>Data Ingestion Verification</a:t>
            </a:r>
            <a:endParaRPr lang="en-US" sz="1100" dirty="0"/>
          </a:p>
        </p:txBody>
      </p:sp>
      <p:sp>
        <p:nvSpPr>
          <p:cNvPr id="7" name="TextBox 7"/>
          <p:cNvSpPr txBox="1"/>
          <p:nvPr/>
        </p:nvSpPr>
        <p:spPr>
          <a:xfrm>
            <a:off x="4572000" y="4908069"/>
            <a:ext cx="3237865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20000"/>
              </a:lnSpc>
              <a:defRPr/>
            </a:pPr>
            <a:r>
              <a:rPr lang="en-US" sz="2000" b="1" i="0" u="none" baseline="0" dirty="0">
                <a:solidFill>
                  <a:srgbClr val="2787DC"/>
                </a:solidFill>
                <a:latin typeface="思源黑体 Normal"/>
                <a:ea typeface="思源黑体 Normal"/>
              </a:rPr>
              <a:t>Transformation Validation</a:t>
            </a:r>
            <a:endParaRPr lang="en-US" sz="1100" dirty="0"/>
          </a:p>
        </p:txBody>
      </p:sp>
      <p:sp>
        <p:nvSpPr>
          <p:cNvPr id="8" name="TextBox 8"/>
          <p:cNvSpPr txBox="1"/>
          <p:nvPr/>
        </p:nvSpPr>
        <p:spPr>
          <a:xfrm>
            <a:off x="8610600" y="4908069"/>
            <a:ext cx="2936875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r>
              <a:rPr lang="en-US" sz="2000" b="1" i="0" u="none" baseline="0" dirty="0">
                <a:solidFill>
                  <a:srgbClr val="2787DC"/>
                </a:solidFill>
                <a:latin typeface="思源黑体 Normal"/>
                <a:ea typeface="思源黑体 Normal"/>
              </a:rPr>
              <a:t>Reporting and Alerting</a:t>
            </a:r>
            <a:endParaRPr lang="en-US" sz="1100" dirty="0"/>
          </a:p>
        </p:txBody>
      </p:sp>
      <p:sp>
        <p:nvSpPr>
          <p:cNvPr id="9" name="Freeform 9"/>
          <p:cNvSpPr/>
          <p:nvPr/>
        </p:nvSpPr>
        <p:spPr>
          <a:xfrm>
            <a:off x="4391025" y="1800860"/>
            <a:ext cx="3420000" cy="2880000"/>
          </a:xfrm>
          <a:custGeom>
            <a:avLst/>
            <a:gdLst/>
            <a:ahLst/>
            <a:cxnLst/>
            <a:rect l="l" t="t" r="r" b="b"/>
            <a:pathLst>
              <a:path w="3419475" h="2424738">
                <a:moveTo>
                  <a:pt x="226895" y="0"/>
                </a:moveTo>
                <a:lnTo>
                  <a:pt x="3192580" y="0"/>
                </a:lnTo>
                <a:cubicBezTo>
                  <a:pt x="3317891" y="0"/>
                  <a:pt x="3419475" y="101584"/>
                  <a:pt x="3419475" y="226895"/>
                </a:cubicBezTo>
                <a:lnTo>
                  <a:pt x="3419475" y="1978968"/>
                </a:lnTo>
                <a:cubicBezTo>
                  <a:pt x="3419475" y="2104279"/>
                  <a:pt x="3317891" y="2205863"/>
                  <a:pt x="3192580" y="2205863"/>
                </a:cubicBezTo>
                <a:lnTo>
                  <a:pt x="895506" y="2205863"/>
                </a:lnTo>
                <a:lnTo>
                  <a:pt x="889574" y="2213354"/>
                </a:lnTo>
                <a:cubicBezTo>
                  <a:pt x="809384" y="2314615"/>
                  <a:pt x="744479" y="2396574"/>
                  <a:pt x="740251" y="2401913"/>
                </a:cubicBezTo>
                <a:cubicBezTo>
                  <a:pt x="728975" y="2416153"/>
                  <a:pt x="711196" y="2424738"/>
                  <a:pt x="693034" y="2424738"/>
                </a:cubicBezTo>
                <a:cubicBezTo>
                  <a:pt x="674871" y="2424737"/>
                  <a:pt x="657075" y="2416130"/>
                  <a:pt x="645800" y="2401891"/>
                </a:cubicBezTo>
                <a:cubicBezTo>
                  <a:pt x="641571" y="2396552"/>
                  <a:pt x="576666" y="2314593"/>
                  <a:pt x="496476" y="2213332"/>
                </a:cubicBezTo>
                <a:lnTo>
                  <a:pt x="490561" y="2205863"/>
                </a:lnTo>
                <a:lnTo>
                  <a:pt x="226895" y="2205863"/>
                </a:lnTo>
                <a:cubicBezTo>
                  <a:pt x="101584" y="2205863"/>
                  <a:pt x="0" y="2104279"/>
                  <a:pt x="0" y="1978968"/>
                </a:cubicBezTo>
                <a:lnTo>
                  <a:pt x="0" y="226895"/>
                </a:lnTo>
                <a:cubicBezTo>
                  <a:pt x="0" y="101584"/>
                  <a:pt x="101584" y="0"/>
                  <a:pt x="226895" y="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269875" tIns="90170" rIns="269875" bIns="306070" anchor="ctr">
            <a:normAutofit/>
          </a:bodyPr>
          <a:lstStyle/>
          <a:p>
            <a:pPr marL="0" indent="0" algn="just" fontAlgn="auto">
              <a:lnSpc>
                <a:spcPct val="120000"/>
              </a:lnSpc>
            </a:pPr>
            <a:r>
              <a:rPr lang="en-US" sz="1400" b="0" i="0" u="none" baseline="0">
                <a:solidFill>
                  <a:schemeClr val="tx1"/>
                </a:solidFill>
                <a:latin typeface="思源黑体 Normal"/>
                <a:ea typeface="思源黑体 Normal"/>
              </a:rPr>
              <a:t>PySpark cleans data from  Cosmos DB transforming it and writing to SQL Data Warehouse (DW).</a:t>
            </a:r>
          </a:p>
        </p:txBody>
      </p:sp>
      <p:sp>
        <p:nvSpPr>
          <p:cNvPr id="10" name="Freeform 10"/>
          <p:cNvSpPr/>
          <p:nvPr/>
        </p:nvSpPr>
        <p:spPr>
          <a:xfrm>
            <a:off x="8121650" y="1800860"/>
            <a:ext cx="3420000" cy="2880000"/>
          </a:xfrm>
          <a:custGeom>
            <a:avLst/>
            <a:gdLst/>
            <a:ahLst/>
            <a:cxnLst/>
            <a:rect l="l" t="t" r="r" b="b"/>
            <a:pathLst>
              <a:path w="3419475" h="2424738">
                <a:moveTo>
                  <a:pt x="226895" y="0"/>
                </a:moveTo>
                <a:lnTo>
                  <a:pt x="3192580" y="0"/>
                </a:lnTo>
                <a:cubicBezTo>
                  <a:pt x="3317891" y="0"/>
                  <a:pt x="3419475" y="101584"/>
                  <a:pt x="3419475" y="226895"/>
                </a:cubicBezTo>
                <a:lnTo>
                  <a:pt x="3419475" y="1978968"/>
                </a:lnTo>
                <a:cubicBezTo>
                  <a:pt x="3419475" y="2104279"/>
                  <a:pt x="3317891" y="2205863"/>
                  <a:pt x="3192580" y="2205863"/>
                </a:cubicBezTo>
                <a:lnTo>
                  <a:pt x="895506" y="2205863"/>
                </a:lnTo>
                <a:lnTo>
                  <a:pt x="889574" y="2213354"/>
                </a:lnTo>
                <a:cubicBezTo>
                  <a:pt x="809384" y="2314615"/>
                  <a:pt x="744479" y="2396574"/>
                  <a:pt x="740251" y="2401913"/>
                </a:cubicBezTo>
                <a:cubicBezTo>
                  <a:pt x="728975" y="2416153"/>
                  <a:pt x="711196" y="2424738"/>
                  <a:pt x="693034" y="2424738"/>
                </a:cubicBezTo>
                <a:cubicBezTo>
                  <a:pt x="674871" y="2424737"/>
                  <a:pt x="657075" y="2416130"/>
                  <a:pt x="645800" y="2401891"/>
                </a:cubicBezTo>
                <a:cubicBezTo>
                  <a:pt x="641571" y="2396552"/>
                  <a:pt x="576666" y="2314593"/>
                  <a:pt x="496476" y="2213332"/>
                </a:cubicBezTo>
                <a:lnTo>
                  <a:pt x="490561" y="2205863"/>
                </a:lnTo>
                <a:lnTo>
                  <a:pt x="226895" y="2205863"/>
                </a:lnTo>
                <a:cubicBezTo>
                  <a:pt x="101584" y="2205863"/>
                  <a:pt x="0" y="2104279"/>
                  <a:pt x="0" y="1978968"/>
                </a:cubicBezTo>
                <a:lnTo>
                  <a:pt x="0" y="226895"/>
                </a:lnTo>
                <a:cubicBezTo>
                  <a:pt x="0" y="101584"/>
                  <a:pt x="101584" y="0"/>
                  <a:pt x="226895" y="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269875" tIns="90170" rIns="269875" bIns="306070" anchor="ctr">
            <a:normAutofit/>
          </a:bodyPr>
          <a:lstStyle/>
          <a:p>
            <a:pPr marL="0" indent="0" algn="just" fontAlgn="auto">
              <a:lnSpc>
                <a:spcPct val="120000"/>
              </a:lnSpc>
            </a:pPr>
            <a:r>
              <a:rPr lang="en-US" sz="1400" b="0" i="0" u="none" baseline="0">
                <a:solidFill>
                  <a:schemeClr val="tx1"/>
                </a:solidFill>
                <a:latin typeface="思源黑体 Normal"/>
                <a:ea typeface="思源黑体 Normal"/>
              </a:rPr>
              <a:t>Power BI dashboards update with transaction data; generate real-time fraud alert.</a:t>
            </a:r>
          </a:p>
        </p:txBody>
      </p:sp>
      <p:sp>
        <p:nvSpPr>
          <p:cNvPr id="11" name="Freeform 11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2787DC"/>
          </a:solidFill>
        </p:spPr>
      </p:sp>
      <p:sp>
        <p:nvSpPr>
          <p:cNvPr id="12" name="TextBox 12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2787DC"/>
                </a:solidFill>
                <a:latin typeface="思源黑体 Normal"/>
                <a:ea typeface="思源黑体 Normal"/>
              </a:rPr>
              <a:t>End-to-End Testing and Demo Scenario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alphaModFix amt="8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" y="945515"/>
            <a:ext cx="7417435" cy="3452495"/>
            <a:chOff x="180" y="1779"/>
            <a:chExt cx="11681" cy="5437"/>
          </a:xfrm>
        </p:grpSpPr>
        <p:grpSp>
          <p:nvGrpSpPr>
            <p:cNvPr id="3" name="Group 3"/>
            <p:cNvGrpSpPr/>
            <p:nvPr/>
          </p:nvGrpSpPr>
          <p:grpSpPr>
            <a:xfrm>
              <a:off x="320" y="1779"/>
              <a:ext cx="11541" cy="2310"/>
              <a:chOff x="-4958" y="1162"/>
              <a:chExt cx="11541" cy="2310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-4958" y="1162"/>
                <a:ext cx="4488" cy="1193"/>
              </a:xfrm>
              <a:prstGeom prst="roundRect">
                <a:avLst/>
              </a:prstGeom>
              <a:solidFill>
                <a:srgbClr val="2787DC"/>
              </a:solidFill>
            </p:spPr>
            <p:txBody>
              <a:bodyPr vert="horz" lIns="91440" tIns="45720" rIns="91440" bIns="45720" anchor="t"/>
              <a:lstStyle/>
              <a:p>
                <a:pPr marL="0" algn="l"/>
                <a:endParaRPr/>
              </a:p>
            </p:txBody>
          </p:sp>
          <p:grpSp>
            <p:nvGrpSpPr>
              <p:cNvPr id="5" name="Group 5"/>
              <p:cNvGrpSpPr/>
              <p:nvPr/>
            </p:nvGrpSpPr>
            <p:grpSpPr>
              <a:xfrm>
                <a:off x="-4788" y="1202"/>
                <a:ext cx="11371" cy="2270"/>
                <a:chOff x="3191" y="712"/>
                <a:chExt cx="11371" cy="2270"/>
              </a:xfrm>
            </p:grpSpPr>
            <p:sp>
              <p:nvSpPr>
                <p:cNvPr id="6" name="TextBox 6"/>
                <p:cNvSpPr txBox="1"/>
                <p:nvPr/>
              </p:nvSpPr>
              <p:spPr>
                <a:xfrm>
                  <a:off x="3191" y="712"/>
                  <a:ext cx="4521" cy="1113"/>
                </a:xfrm>
                <a:prstGeom prst="rect">
                  <a:avLst/>
                </a:prstGeom>
                <a:noFill/>
              </p:spPr>
              <p:txBody>
                <a:bodyPr vert="horz" wrap="square" lIns="91440" tIns="45720" rIns="91440" bIns="45720" rtlCol="0" anchor="ctr">
                  <a:noAutofit/>
                </a:bodyPr>
                <a:lstStyle/>
                <a:p>
                  <a:pPr marL="0" algn="l">
                    <a:defRPr/>
                  </a:pPr>
                  <a:r>
                    <a:rPr lang="en-US" sz="4000" b="1" i="0" u="none" baseline="0">
                      <a:solidFill>
                        <a:schemeClr val="bg1"/>
                      </a:solidFill>
                      <a:latin typeface="思源黑体 Normal"/>
                      <a:ea typeface="思源黑体 Normal"/>
                    </a:rPr>
                    <a:t>PART  07</a:t>
                  </a:r>
                  <a:endParaRPr lang="en-US" sz="1100"/>
                </a:p>
              </p:txBody>
            </p:sp>
            <p:sp>
              <p:nvSpPr>
                <p:cNvPr id="7" name="AutoShape 7"/>
                <p:cNvSpPr/>
                <p:nvPr/>
              </p:nvSpPr>
              <p:spPr>
                <a:xfrm>
                  <a:off x="10041" y="1862"/>
                  <a:ext cx="4521" cy="1120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txBody>
                <a:bodyPr vert="horz" lIns="91440" tIns="45720" rIns="91440" bIns="45720" anchor="ctr"/>
                <a:lstStyle/>
                <a:p>
                  <a:pPr marL="0" algn="l"/>
                  <a:endParaRPr/>
                </a:p>
              </p:txBody>
            </p:sp>
          </p:grpSp>
        </p:grpSp>
        <p:sp>
          <p:nvSpPr>
            <p:cNvPr id="8" name="TextBox 8"/>
            <p:cNvSpPr txBox="1"/>
            <p:nvPr/>
          </p:nvSpPr>
          <p:spPr>
            <a:xfrm>
              <a:off x="180" y="3926"/>
              <a:ext cx="11601" cy="329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5400" b="0" i="0" u="none" baseline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思源黑体 Medium"/>
                  <a:ea typeface="思源黑体 Medium"/>
                </a:rPr>
                <a:t>Challenges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2328545" y="4767580"/>
            <a:ext cx="8639810" cy="136779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 dirty="0">
                <a:solidFill>
                  <a:srgbClr val="262626"/>
                </a:solidFill>
                <a:latin typeface="思源黑体 Normal"/>
                <a:ea typeface="思源黑体 Normal"/>
              </a:rPr>
              <a:t>.</a:t>
            </a:r>
            <a:endParaRPr lang="en-US" sz="1100" dirty="0"/>
          </a:p>
        </p:txBody>
      </p:sp>
      <p:sp>
        <p:nvSpPr>
          <p:cNvPr id="8" name="TextBox 8"/>
          <p:cNvSpPr txBox="1"/>
          <p:nvPr/>
        </p:nvSpPr>
        <p:spPr>
          <a:xfrm>
            <a:off x="2301506" y="4127390"/>
            <a:ext cx="8639810" cy="5397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endParaRPr lang="en-US" sz="1100" dirty="0"/>
          </a:p>
        </p:txBody>
      </p:sp>
      <p:sp>
        <p:nvSpPr>
          <p:cNvPr id="9" name="TextBox 9"/>
          <p:cNvSpPr txBox="1"/>
          <p:nvPr/>
        </p:nvSpPr>
        <p:spPr>
          <a:xfrm>
            <a:off x="2328545" y="2076450"/>
            <a:ext cx="8639810" cy="136779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 dirty="0">
                <a:solidFill>
                  <a:srgbClr val="262626"/>
                </a:solidFill>
                <a:latin typeface="思源黑体 Normal"/>
                <a:ea typeface="思源黑体 Normal"/>
              </a:rPr>
              <a:t>.</a:t>
            </a:r>
            <a:endParaRPr lang="en-US" sz="1100" dirty="0"/>
          </a:p>
        </p:txBody>
      </p:sp>
      <p:sp>
        <p:nvSpPr>
          <p:cNvPr id="13" name="TextBox 13"/>
          <p:cNvSpPr txBox="1"/>
          <p:nvPr/>
        </p:nvSpPr>
        <p:spPr>
          <a:xfrm>
            <a:off x="685165" y="-228600"/>
            <a:ext cx="9754235" cy="79248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1.Azure DevOps Permissions &amp; Access Issues</a:t>
            </a:r>
          </a:p>
          <a:p>
            <a:pPr>
              <a:lnSpc>
                <a:spcPct val="150000"/>
              </a:lnSpc>
            </a:pPr>
            <a:r>
              <a:rPr lang="en-US" dirty="0"/>
              <a:t>Difficulty accessing repositories, service connections, or pipelines due to missing permissions.</a:t>
            </a:r>
          </a:p>
          <a:p>
            <a:pPr>
              <a:lnSpc>
                <a:spcPct val="150000"/>
              </a:lnSpc>
            </a:pPr>
            <a:r>
              <a:rPr lang="en-US" dirty="0"/>
              <a:t>Needed to configure correct roles &amp; security policies.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2. Creating Service Connection for Deployment</a:t>
            </a:r>
          </a:p>
          <a:p>
            <a:pPr>
              <a:lnSpc>
                <a:spcPct val="150000"/>
              </a:lnSpc>
            </a:pPr>
            <a:r>
              <a:rPr lang="en-US" dirty="0"/>
              <a:t>Setting up a service principal or Azure subscription connection was confusing.</a:t>
            </a:r>
          </a:p>
          <a:p>
            <a:pPr>
              <a:lnSpc>
                <a:spcPct val="150000"/>
              </a:lnSpc>
            </a:pPr>
            <a:r>
              <a:rPr lang="en-US" dirty="0"/>
              <a:t>Authentication failures when the pipeline tried to deploy resources.</a:t>
            </a:r>
          </a:p>
          <a:p>
            <a:pPr>
              <a:lnSpc>
                <a:spcPct val="150000"/>
              </a:lnSpc>
            </a:pPr>
            <a:r>
              <a:rPr lang="en-US" dirty="0"/>
              <a:t>3.</a:t>
            </a:r>
            <a:r>
              <a:rPr lang="en-US" b="1" dirty="0"/>
              <a:t> Packaging &amp; Deploying Azure Functions</a:t>
            </a:r>
          </a:p>
          <a:p>
            <a:pPr>
              <a:lnSpc>
                <a:spcPct val="150000"/>
              </a:lnSpc>
            </a:pPr>
            <a:r>
              <a:rPr lang="en-US" dirty="0"/>
              <a:t>Zip packaging step failed due to incorrect folder structure.</a:t>
            </a:r>
          </a:p>
          <a:p>
            <a:pPr>
              <a:lnSpc>
                <a:spcPct val="150000"/>
              </a:lnSpc>
            </a:pPr>
            <a:r>
              <a:rPr lang="en-US" dirty="0"/>
              <a:t>"Function app not found" or "Invalid runtime" errors during deploy.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14" name="TextBox 14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dirty="0" err="1">
                <a:ln/>
                <a:solidFill>
                  <a:srgbClr val="2787DC"/>
                </a:solidFill>
                <a:latin typeface="思源黑体 Normal"/>
              </a:rPr>
              <a:t>Challanges</a:t>
            </a:r>
            <a:endParaRPr lang="en-US" sz="1100" dirty="0"/>
          </a:p>
        </p:txBody>
      </p:sp>
      <p:sp>
        <p:nvSpPr>
          <p:cNvPr id="15" name="Freeform 15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2787DC"/>
          </a:solidFill>
        </p:spPr>
      </p:sp>
    </p:spTree>
  </p:cSld>
  <p:clrMapOvr>
    <a:masterClrMapping/>
  </p:clrMapOvr>
  <p:transition advClick="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96595" y="2295525"/>
            <a:ext cx="5102225" cy="3612515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961390" y="1760855"/>
            <a:ext cx="793750" cy="777875"/>
          </a:xfrm>
          <a:prstGeom prst="roundRect">
            <a:avLst>
              <a:gd name="adj" fmla="val 0"/>
            </a:avLst>
          </a:prstGeom>
          <a:solidFill>
            <a:srgbClr val="2787DC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400" b="1" i="0" u="none" baseline="0">
                <a:solidFill>
                  <a:schemeClr val="lt1"/>
                </a:solidFill>
                <a:latin typeface="思源黑体 Medium"/>
                <a:ea typeface="思源黑体 Medium"/>
              </a:rPr>
              <a:t>01</a:t>
            </a:r>
          </a:p>
        </p:txBody>
      </p:sp>
      <p:cxnSp>
        <p:nvCxnSpPr>
          <p:cNvPr id="4" name="Connector 4"/>
          <p:cNvCxnSpPr/>
          <p:nvPr/>
        </p:nvCxnSpPr>
        <p:spPr>
          <a:xfrm flipV="1">
            <a:off x="916305" y="3330575"/>
            <a:ext cx="4662805" cy="0"/>
          </a:xfrm>
          <a:prstGeom prst="line">
            <a:avLst/>
          </a:prstGeom>
          <a:ln w="22225">
            <a:solidFill>
              <a:srgbClr val="2787DC">
                <a:alpha val="50000"/>
              </a:srgbClr>
            </a:solidFill>
          </a:ln>
        </p:spPr>
      </p:cxnSp>
      <p:sp>
        <p:nvSpPr>
          <p:cNvPr id="5" name="AutoShape 5"/>
          <p:cNvSpPr/>
          <p:nvPr/>
        </p:nvSpPr>
        <p:spPr>
          <a:xfrm>
            <a:off x="6393815" y="2295525"/>
            <a:ext cx="5102225" cy="3612515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657975" y="1760855"/>
            <a:ext cx="793750" cy="777875"/>
          </a:xfrm>
          <a:prstGeom prst="roundRect">
            <a:avLst>
              <a:gd name="adj" fmla="val 0"/>
            </a:avLst>
          </a:prstGeom>
          <a:solidFill>
            <a:srgbClr val="2787DC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400" b="1" i="0" u="none" baseline="0">
                <a:solidFill>
                  <a:schemeClr val="lt1"/>
                </a:solidFill>
                <a:latin typeface="思源黑体 Medium"/>
                <a:ea typeface="思源黑体 Medium"/>
              </a:rPr>
              <a:t>02</a:t>
            </a:r>
          </a:p>
        </p:txBody>
      </p:sp>
      <p:cxnSp>
        <p:nvCxnSpPr>
          <p:cNvPr id="7" name="Connector 7"/>
          <p:cNvCxnSpPr/>
          <p:nvPr/>
        </p:nvCxnSpPr>
        <p:spPr>
          <a:xfrm flipV="1">
            <a:off x="6614160" y="3336290"/>
            <a:ext cx="4662170" cy="0"/>
          </a:xfrm>
          <a:prstGeom prst="line">
            <a:avLst/>
          </a:prstGeom>
          <a:ln w="22225">
            <a:solidFill>
              <a:srgbClr val="2787DC">
                <a:alpha val="50000"/>
              </a:srgbClr>
            </a:solidFill>
          </a:ln>
        </p:spPr>
      </p:cxnSp>
      <p:sp>
        <p:nvSpPr>
          <p:cNvPr id="8" name="TextBox 8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2787DC"/>
                </a:solidFill>
                <a:latin typeface="思源黑体 Normal"/>
                <a:ea typeface="思源黑体 Normal"/>
              </a:rPr>
              <a:t>Integration Complexity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2787DC"/>
          </a:solidFill>
        </p:spPr>
      </p:sp>
      <p:sp>
        <p:nvSpPr>
          <p:cNvPr id="10" name="TextBox 10"/>
          <p:cNvSpPr txBox="1"/>
          <p:nvPr/>
        </p:nvSpPr>
        <p:spPr>
          <a:xfrm>
            <a:off x="961390" y="2796540"/>
            <a:ext cx="4535805" cy="54000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90000"/>
              </a:lnSpc>
              <a:defRPr/>
            </a:pPr>
            <a:r>
              <a:rPr lang="en-US" sz="2000" b="1" i="0" u="none" baseline="0">
                <a:solidFill>
                  <a:srgbClr val="2787DC"/>
                </a:solidFill>
                <a:latin typeface="思源黑体 Normal"/>
                <a:ea typeface="思源黑体 Normal"/>
              </a:rPr>
              <a:t>Challenge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916305" y="3304540"/>
            <a:ext cx="4580255" cy="220853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Integrating diverse systems and technologies into a unified platform.</a:t>
            </a:r>
            <a:endParaRPr lang="en-US" sz="1100"/>
          </a:p>
          <a:p>
            <a:pPr marL="0" indent="0" algn="r" fontAlgn="auto">
              <a:lnSpc>
                <a:spcPct val="150000"/>
              </a:lnSpc>
            </a:pPr>
            <a:endParaRPr lang="en-US" sz="1100"/>
          </a:p>
          <a:p>
            <a:pPr marL="0" indent="0" algn="r" fontAlgn="auto">
              <a:lnSpc>
                <a:spcPct val="150000"/>
              </a:lnSpc>
            </a:pP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6657975" y="3343275"/>
            <a:ext cx="4536000" cy="2160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Adopting a modular architecture with clear interfaces and well-defined data flows.</a:t>
            </a:r>
            <a:endParaRPr lang="en-US" sz="1100"/>
          </a:p>
          <a:p>
            <a:pPr marL="0" indent="0" algn="r" fontAlgn="auto">
              <a:lnSpc>
                <a:spcPct val="150000"/>
              </a:lnSpc>
            </a:pPr>
            <a:endParaRPr lang="en-US" sz="1100"/>
          </a:p>
          <a:p>
            <a:pPr marL="0" indent="0" algn="r" fontAlgn="auto">
              <a:lnSpc>
                <a:spcPct val="150000"/>
              </a:lnSpc>
            </a:pP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657975" y="2796540"/>
            <a:ext cx="4535805" cy="54000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90000"/>
              </a:lnSpc>
              <a:defRPr/>
            </a:pPr>
            <a:r>
              <a:rPr lang="en-US" sz="2000" b="1" i="0" u="none" baseline="0">
                <a:solidFill>
                  <a:srgbClr val="2787DC"/>
                </a:solidFill>
                <a:latin typeface="思源黑体 Normal"/>
                <a:ea typeface="思源黑体 Normal"/>
              </a:rPr>
              <a:t>Solution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alphaModFix amt="8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" y="945515"/>
            <a:ext cx="7417435" cy="3452495"/>
            <a:chOff x="180" y="1779"/>
            <a:chExt cx="11681" cy="5437"/>
          </a:xfrm>
        </p:grpSpPr>
        <p:grpSp>
          <p:nvGrpSpPr>
            <p:cNvPr id="3" name="Group 3"/>
            <p:cNvGrpSpPr/>
            <p:nvPr/>
          </p:nvGrpSpPr>
          <p:grpSpPr>
            <a:xfrm>
              <a:off x="320" y="1779"/>
              <a:ext cx="11541" cy="2310"/>
              <a:chOff x="-4958" y="1162"/>
              <a:chExt cx="11541" cy="2310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-4958" y="1162"/>
                <a:ext cx="4488" cy="1193"/>
              </a:xfrm>
              <a:prstGeom prst="roundRect">
                <a:avLst/>
              </a:prstGeom>
              <a:solidFill>
                <a:srgbClr val="2787DC"/>
              </a:solidFill>
            </p:spPr>
            <p:txBody>
              <a:bodyPr vert="horz" lIns="91440" tIns="45720" rIns="91440" bIns="45720" anchor="t"/>
              <a:lstStyle/>
              <a:p>
                <a:pPr marL="0" algn="l"/>
                <a:endParaRPr/>
              </a:p>
            </p:txBody>
          </p:sp>
          <p:grpSp>
            <p:nvGrpSpPr>
              <p:cNvPr id="5" name="Group 5"/>
              <p:cNvGrpSpPr/>
              <p:nvPr/>
            </p:nvGrpSpPr>
            <p:grpSpPr>
              <a:xfrm>
                <a:off x="-4788" y="1202"/>
                <a:ext cx="11371" cy="2270"/>
                <a:chOff x="3191" y="712"/>
                <a:chExt cx="11371" cy="2270"/>
              </a:xfrm>
            </p:grpSpPr>
            <p:sp>
              <p:nvSpPr>
                <p:cNvPr id="6" name="TextBox 6"/>
                <p:cNvSpPr txBox="1"/>
                <p:nvPr/>
              </p:nvSpPr>
              <p:spPr>
                <a:xfrm>
                  <a:off x="3191" y="712"/>
                  <a:ext cx="4521" cy="1113"/>
                </a:xfrm>
                <a:prstGeom prst="rect">
                  <a:avLst/>
                </a:prstGeom>
                <a:noFill/>
              </p:spPr>
              <p:txBody>
                <a:bodyPr vert="horz" wrap="square" lIns="91440" tIns="45720" rIns="91440" bIns="45720" rtlCol="0" anchor="ctr">
                  <a:noAutofit/>
                </a:bodyPr>
                <a:lstStyle/>
                <a:p>
                  <a:pPr marL="0" algn="l">
                    <a:defRPr/>
                  </a:pPr>
                  <a:r>
                    <a:rPr lang="en-US" sz="4000" b="1" i="0" u="none" baseline="0">
                      <a:solidFill>
                        <a:schemeClr val="bg1"/>
                      </a:solidFill>
                      <a:latin typeface="思源黑体 Normal"/>
                      <a:ea typeface="思源黑体 Normal"/>
                    </a:rPr>
                    <a:t>PART  08</a:t>
                  </a:r>
                  <a:endParaRPr lang="en-US" sz="1100"/>
                </a:p>
              </p:txBody>
            </p:sp>
            <p:sp>
              <p:nvSpPr>
                <p:cNvPr id="7" name="AutoShape 7"/>
                <p:cNvSpPr/>
                <p:nvPr/>
              </p:nvSpPr>
              <p:spPr>
                <a:xfrm>
                  <a:off x="10041" y="1862"/>
                  <a:ext cx="4521" cy="1120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txBody>
                <a:bodyPr vert="horz" lIns="91440" tIns="45720" rIns="91440" bIns="45720" anchor="ctr"/>
                <a:lstStyle/>
                <a:p>
                  <a:pPr marL="0" algn="l"/>
                  <a:endParaRPr/>
                </a:p>
              </p:txBody>
            </p:sp>
          </p:grpSp>
        </p:grpSp>
        <p:sp>
          <p:nvSpPr>
            <p:cNvPr id="8" name="TextBox 8"/>
            <p:cNvSpPr txBox="1"/>
            <p:nvPr/>
          </p:nvSpPr>
          <p:spPr>
            <a:xfrm>
              <a:off x="180" y="3926"/>
              <a:ext cx="11601" cy="329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5400" b="0" i="0" u="none" baseline="0">
                  <a:solidFill>
                    <a:schemeClr val="tx1">
                      <a:lumMod val="90000"/>
                      <a:lumOff val="10000"/>
                    </a:schemeClr>
                  </a:solidFill>
                  <a:latin typeface="思源黑体 Medium"/>
                  <a:ea typeface="思源黑体 Medium"/>
                </a:rPr>
                <a:t>Conclusion: Transforming Banking with Data</a:t>
              </a:r>
              <a:endParaRPr lang="en-US" sz="1100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7"/>
          <p:cNvSpPr/>
          <p:nvPr/>
        </p:nvSpPr>
        <p:spPr>
          <a:xfrm>
            <a:off x="513080" y="1603375"/>
            <a:ext cx="1316355" cy="479425"/>
          </a:xfrm>
          <a:prstGeom prst="snip1Rect">
            <a:avLst>
              <a:gd name="adj" fmla="val 0"/>
            </a:avLst>
          </a:prstGeom>
          <a:noFill/>
          <a:ln>
            <a:noFill/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r>
              <a:rPr lang="en-US" sz="2240" b="1" i="0" u="none" baseline="0">
                <a:solidFill>
                  <a:schemeClr val="lt1"/>
                </a:solidFill>
                <a:latin typeface="思源黑体 Medium"/>
                <a:ea typeface="思源黑体 Medium"/>
              </a:rPr>
              <a:t>01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288155" y="1603375"/>
            <a:ext cx="1316355" cy="479425"/>
          </a:xfrm>
          <a:prstGeom prst="snip1Rect">
            <a:avLst>
              <a:gd name="adj" fmla="val 0"/>
            </a:avLst>
          </a:prstGeom>
          <a:noFill/>
          <a:ln>
            <a:noFill/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r>
              <a:rPr lang="en-US" sz="2240" b="1" i="0" u="none" baseline="0">
                <a:solidFill>
                  <a:schemeClr val="lt1"/>
                </a:solidFill>
                <a:latin typeface="思源黑体 Medium"/>
                <a:ea typeface="思源黑体 Medium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56455" y="2223770"/>
            <a:ext cx="2789555" cy="791845"/>
          </a:xfrm>
          <a:prstGeom prst="rect">
            <a:avLst/>
          </a:prstGeom>
          <a:ln>
            <a:noFill/>
          </a:ln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8063230" y="1603375"/>
            <a:ext cx="1316355" cy="479425"/>
          </a:xfrm>
          <a:prstGeom prst="snip1Rect">
            <a:avLst>
              <a:gd name="adj" fmla="val 0"/>
            </a:avLst>
          </a:prstGeom>
          <a:noFill/>
          <a:ln>
            <a:noFill/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r>
              <a:rPr lang="en-US" sz="2240" b="1" i="0" u="none" baseline="0">
                <a:solidFill>
                  <a:schemeClr val="lt1"/>
                </a:solidFill>
                <a:latin typeface="思源黑体 Medium"/>
                <a:ea typeface="思源黑体 Medium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31530" y="2223770"/>
            <a:ext cx="2789555" cy="791845"/>
          </a:xfrm>
          <a:prstGeom prst="rect">
            <a:avLst/>
          </a:prstGeom>
          <a:ln>
            <a:noFill/>
          </a:ln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endParaRPr lang="en-US" sz="1100" dirty="0"/>
          </a:p>
        </p:txBody>
      </p:sp>
      <p:sp>
        <p:nvSpPr>
          <p:cNvPr id="19" name="TextBox 19"/>
          <p:cNvSpPr txBox="1"/>
          <p:nvPr/>
        </p:nvSpPr>
        <p:spPr>
          <a:xfrm>
            <a:off x="8422640" y="3032125"/>
            <a:ext cx="2890520" cy="3125470"/>
          </a:xfrm>
          <a:prstGeom prst="rect">
            <a:avLst/>
          </a:prstGeom>
          <a:ln>
            <a:noFill/>
          </a:ln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35000"/>
              </a:lnSpc>
              <a:defRPr/>
            </a:pPr>
            <a:endParaRPr lang="en-US" sz="1100" dirty="0"/>
          </a:p>
        </p:txBody>
      </p:sp>
      <p:sp>
        <p:nvSpPr>
          <p:cNvPr id="20" name="Freeform 20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2787DC"/>
          </a:solidFill>
          <a:ln>
            <a:solidFill>
              <a:srgbClr val="000000">
                <a:alpha val="0"/>
              </a:srgbClr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  <a:ln>
            <a:noFill/>
          </a:ln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dirty="0">
                <a:ln/>
                <a:solidFill>
                  <a:srgbClr val="2787DC"/>
                </a:solidFill>
                <a:latin typeface="思源黑体 Normal"/>
              </a:rPr>
              <a:t>Conclusion</a:t>
            </a:r>
            <a:endParaRPr lang="en-US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3EA2C5-62FE-750D-13CA-59433A7C7611}"/>
              </a:ext>
            </a:extLst>
          </p:cNvPr>
          <p:cNvSpPr txBox="1"/>
          <p:nvPr/>
        </p:nvSpPr>
        <p:spPr>
          <a:xfrm>
            <a:off x="914401" y="1371600"/>
            <a:ext cx="9829799" cy="5035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This project successfully demonstrated how a modern banking data platform can be built using Azure services to enable secure, scalable, and automated data processing.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Across all stages—data ingestion, validation, transformation, storage, analytics, and CI/CD automation—the solution follows industry best practices and real enterprise architecture.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By integrating Azure Functions, Storage, Event Grid, Service Bus, Databricks/Synapse, Key Vault, and DevOps pipelines, the platform ensures reliable real-time processing, robust data quality, and end-to-end operational efficiency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With monitoring, alerting, and continuous deployment in place, the system supports ongoing improvements and provides a strong foundation for advanced use cases like fraud detection, customer 360 analytics, and regulatory reporting.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Overall, this project delivers a complete, production-ready cloud data platform that is secure, automated, and optimized for banking workloads.</a:t>
            </a:r>
            <a:endParaRPr lang="en-IN" dirty="0"/>
          </a:p>
        </p:txBody>
      </p:sp>
    </p:spTree>
  </p:cSld>
  <p:clrMapOvr>
    <a:masterClrMapping/>
  </p:clrMapOvr>
  <p:transition advClick="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alphaModFix amt="8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1" y="1701165"/>
            <a:ext cx="5448300" cy="2696845"/>
            <a:chOff x="180" y="2969"/>
            <a:chExt cx="11681" cy="4247"/>
          </a:xfrm>
        </p:grpSpPr>
        <p:sp>
          <p:nvSpPr>
            <p:cNvPr id="7" name="AutoShape 7"/>
            <p:cNvSpPr/>
            <p:nvPr/>
          </p:nvSpPr>
          <p:spPr>
            <a:xfrm>
              <a:off x="7340" y="2969"/>
              <a:ext cx="4521" cy="1120"/>
            </a:xfrm>
            <a:prstGeom prst="roundRect">
              <a:avLst/>
            </a:prstGeom>
            <a:noFill/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l"/>
              <a:endParaRPr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0" y="3926"/>
              <a:ext cx="11601" cy="329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5400" b="0" i="0" u="none" baseline="0">
                  <a:solidFill>
                    <a:schemeClr val="tx1">
                      <a:lumMod val="90000"/>
                      <a:lumOff val="10000"/>
                    </a:schemeClr>
                  </a:solidFill>
                  <a:latin typeface="思源黑体 Medium"/>
                  <a:ea typeface="思源黑体 Medium"/>
                </a:rPr>
                <a:t>Thank You</a:t>
              </a:r>
              <a:endParaRPr lang="en-US" sz="110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62626"/>
      </a:dk1>
      <a:lt1>
        <a:srgbClr val="FFFFFF"/>
      </a:lt1>
      <a:dk2>
        <a:srgbClr val="85C1EC"/>
      </a:dk2>
      <a:lt2>
        <a:srgbClr val="FFFFFF"/>
      </a:lt2>
      <a:accent1>
        <a:srgbClr val="85C1EC"/>
      </a:accent1>
      <a:accent2>
        <a:srgbClr val="85C1EC"/>
      </a:accent2>
      <a:accent3>
        <a:srgbClr val="85C1EC"/>
      </a:accent3>
      <a:accent4>
        <a:srgbClr val="85C1EC"/>
      </a:accent4>
      <a:accent5>
        <a:srgbClr val="85C1EC"/>
      </a:accent5>
      <a:accent6>
        <a:srgbClr val="85C1EC"/>
      </a:accent6>
      <a:hlink>
        <a:srgbClr val="262626"/>
      </a:hlink>
      <a:folHlink>
        <a:srgbClr val="262626"/>
      </a:folHlink>
    </a:clrScheme>
    <a:fontScheme name="Office">
      <a:majorFont>
        <a:latin typeface="思源黑体 Medium"/>
        <a:ea typeface="思源黑体 Medium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思源黑体 Medium"/>
        <a:ea typeface="思源黑体 Medium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1425</Words>
  <Application>Microsoft Office PowerPoint</Application>
  <PresentationFormat>Widescreen</PresentationFormat>
  <Paragraphs>164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Times New Roman</vt:lpstr>
      <vt:lpstr>Wingdings</vt:lpstr>
      <vt:lpstr>思源黑体 Medium</vt:lpstr>
      <vt:lpstr>思源黑体 Normal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Sneha Yasam</dc:creator>
  <cp:lastModifiedBy>Sneha Yasam</cp:lastModifiedBy>
  <cp:revision>8</cp:revision>
  <dcterms:created xsi:type="dcterms:W3CDTF">2025-12-09T14:59:19Z</dcterms:created>
  <dcterms:modified xsi:type="dcterms:W3CDTF">2025-12-10T05:14:13Z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pyright">
    <vt:lpwstr>https://docmee.cn</vt:lpwstr>
  </property>
  <property fmtid="{D5CDD505-2E9C-101B-9397-08002B2CF9AE}" pid="3" name="developer">
    <vt:lpwstr>https://github.com/veasion</vt:lpwstr>
  </property>
  <property fmtid="{D5CDD505-2E9C-101B-9397-08002B2CF9AE}" pid="4" name="AIGC">
    <vt:lpwstr>{"ContentPropagator":"文多多","Label":"1","ReservedCode1":"1765292359822","ProduceID":"wenduoduo-pptx-1765292359822","ReservedCode2":"1765292359822","PropagateID":"wenduoduo-pptx1765292359822","ContentProducer":"文多多"}</vt:lpwstr>
  </property>
</Properties>
</file>